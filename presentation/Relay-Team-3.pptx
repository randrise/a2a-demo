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8CE7D5-6E5A-40DE-93B3-BF49B26BA803}"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807D5-46E1-41FA-B2D4-157A07C0D84E}" type="slidenum">
              <a:rPr lang="en-US" smtClean="0"/>
              <a:t>‹#›</a:t>
            </a:fld>
            <a:endParaRPr lang="en-US"/>
          </a:p>
        </p:txBody>
      </p:sp>
    </p:spTree>
    <p:extLst>
      <p:ext uri="{BB962C8B-B14F-4D97-AF65-F5344CB8AC3E}">
        <p14:creationId xmlns:p14="http://schemas.microsoft.com/office/powerpoint/2010/main" val="901405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I will show how one agent asks another agent to do a job. Our example is choosing a
          venue for a workshop. We can watch discovery, delegation, a clarification question and a
          returned recommendation. The venue data is fictional, but the agents exchange real HTTP
          requests through the official A2A SDK. Allow around ten minutes, including the live
          demonstration.</a:t>
            </a:r>
          </a:p>
        </p:txBody>
      </p:sp>
      <p:sp>
        <p:nvSpPr>
          <p:cNvPr id="4" name="Slide Number Placeholder 3"/>
          <p:cNvSpPr>
            <a:spLocks noGrp="1"/>
          </p:cNvSpPr>
          <p:nvPr>
            <p:ph type="sldNum" sz="quarter" idx="5"/>
          </p:nvPr>
        </p:nvSpPr>
        <p:spPr/>
        <p:txBody>
          <a:bodyPr/>
          <a:lstStyle/>
          <a:p>
            <a:fld id="{DB3807D5-46E1-41FA-B2D4-157A07C0D84E}" type="slidenum">
              <a:rPr lang="en-US" smtClean="0"/>
              <a:t>1</a:t>
            </a:fld>
            <a:endParaRPr lang="en-US"/>
          </a:p>
        </p:txBody>
      </p:sp>
    </p:spTree>
    <p:extLst>
      <p:ext uri="{BB962C8B-B14F-4D97-AF65-F5344CB8AC3E}">
        <p14:creationId xmlns:p14="http://schemas.microsoft.com/office/powerpoint/2010/main" val="4235479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preferred budget is AED 1,400, but the absolute maximum is AED 1,600. These are
          different constraints. A slightly more expensive venue can be acceptable if it meets a
          meaningful preference. Both agents can use the same model provider. Different jobs,
          instructions and responsibilities create the delegation boundary.</a:t>
            </a:r>
          </a:p>
        </p:txBody>
      </p:sp>
      <p:sp>
        <p:nvSpPr>
          <p:cNvPr id="4" name="Slide Number Placeholder 3"/>
          <p:cNvSpPr>
            <a:spLocks noGrp="1"/>
          </p:cNvSpPr>
          <p:nvPr>
            <p:ph type="sldNum" sz="quarter" idx="5"/>
          </p:nvPr>
        </p:nvSpPr>
        <p:spPr/>
        <p:txBody>
          <a:bodyPr/>
          <a:lstStyle/>
          <a:p>
            <a:fld id="{DB3807D5-46E1-41FA-B2D4-157A07C0D84E}" type="slidenum">
              <a:rPr lang="en-US" smtClean="0"/>
              <a:t>2</a:t>
            </a:fld>
            <a:endParaRPr lang="en-US"/>
          </a:p>
        </p:txBody>
      </p:sp>
    </p:spTree>
    <p:extLst>
      <p:ext uri="{BB962C8B-B14F-4D97-AF65-F5344CB8AC3E}">
        <p14:creationId xmlns:p14="http://schemas.microsoft.com/office/powerpoint/2010/main" val="1314493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difference is the interface and responsibility. Asking a tool to look up venues
          specifies an operation. Asking a specialist to find a suitable venue delegates a job. A
          tool may still contain complex logic or AI, and MCP can support richer interactions. Do
          not reduce the distinction to whether something is intelligent or takes a long time.
          Sources: https://modelcontextprotocol.io/docs/learn/architecture and
          https://a2a-protocol.org/latest/specification/</a:t>
            </a:r>
          </a:p>
        </p:txBody>
      </p:sp>
      <p:sp>
        <p:nvSpPr>
          <p:cNvPr id="4" name="Slide Number Placeholder 3"/>
          <p:cNvSpPr>
            <a:spLocks noGrp="1"/>
          </p:cNvSpPr>
          <p:nvPr>
            <p:ph type="sldNum" sz="quarter" idx="5"/>
          </p:nvPr>
        </p:nvSpPr>
        <p:spPr/>
        <p:txBody>
          <a:bodyPr/>
          <a:lstStyle/>
          <a:p>
            <a:fld id="{DB3807D5-46E1-41FA-B2D4-157A07C0D84E}" type="slidenum">
              <a:rPr lang="en-US" smtClean="0"/>
              <a:t>3</a:t>
            </a:fld>
            <a:endParaRPr lang="en-US"/>
          </a:p>
        </p:txBody>
      </p:sp>
    </p:spTree>
    <p:extLst>
      <p:ext uri="{BB962C8B-B14F-4D97-AF65-F5344CB8AC3E}">
        <p14:creationId xmlns:p14="http://schemas.microsoft.com/office/powerpoint/2010/main" val="390941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coordinator never calls the specialist executor as an internal framework handoff. It
          uses the A2A client and actual HTTP. This demonstrates the communication boundary locally.
          It does not establish interoperability with another company's agent or certify complete
          protocol conformance. Source: docs/ARCHITECTURE.md and src/app.mjs.</a:t>
            </a:r>
          </a:p>
        </p:txBody>
      </p:sp>
      <p:sp>
        <p:nvSpPr>
          <p:cNvPr id="4" name="Slide Number Placeholder 3"/>
          <p:cNvSpPr>
            <a:spLocks noGrp="1"/>
          </p:cNvSpPr>
          <p:nvPr>
            <p:ph type="sldNum" sz="quarter" idx="5"/>
          </p:nvPr>
        </p:nvSpPr>
        <p:spPr/>
        <p:txBody>
          <a:bodyPr/>
          <a:lstStyle/>
          <a:p>
            <a:fld id="{DB3807D5-46E1-41FA-B2D4-157A07C0D84E}" type="slidenum">
              <a:rPr lang="en-US" smtClean="0"/>
              <a:t>4</a:t>
            </a:fld>
            <a:endParaRPr lang="en-US"/>
          </a:p>
        </p:txBody>
      </p:sp>
    </p:spTree>
    <p:extLst>
      <p:ext uri="{BB962C8B-B14F-4D97-AF65-F5344CB8AC3E}">
        <p14:creationId xmlns:p14="http://schemas.microsoft.com/office/powerpoint/2010/main" val="1649169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Agent Card is machine-readable information describing an agent and its capabilities.
          Discovery here means reading a configured specialist address, not finding any agent
          anywhere on the internet. The UI's protocol inspector shows the actual response. Sources:
          src/protocol/card.mjs and https://a2a-protocol.org/latest/topics/agent-discovery/</a:t>
            </a:r>
          </a:p>
        </p:txBody>
      </p:sp>
      <p:sp>
        <p:nvSpPr>
          <p:cNvPr id="4" name="Slide Number Placeholder 3"/>
          <p:cNvSpPr>
            <a:spLocks noGrp="1"/>
          </p:cNvSpPr>
          <p:nvPr>
            <p:ph type="sldNum" sz="quarter" idx="5"/>
          </p:nvPr>
        </p:nvSpPr>
        <p:spPr/>
        <p:txBody>
          <a:bodyPr/>
          <a:lstStyle/>
          <a:p>
            <a:fld id="{DB3807D5-46E1-41FA-B2D4-157A07C0D84E}" type="slidenum">
              <a:rPr lang="en-US" smtClean="0"/>
              <a:t>5</a:t>
            </a:fld>
            <a:endParaRPr lang="en-US"/>
          </a:p>
        </p:txBody>
      </p:sp>
    </p:spTree>
    <p:extLst>
      <p:ext uri="{BB962C8B-B14F-4D97-AF65-F5344CB8AC3E}">
        <p14:creationId xmlns:p14="http://schemas.microsoft.com/office/powerpoint/2010/main" val="1060251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main exchanges, not a pasted live transcript. The inspector contains the
          actual traffic for each run. A task can also be rejected, fail or be cancelled. Task IDs
          distinguish work items. Context IDs connect related work. A2A standardizes their exchange,
          while our brief schema remains application-specific. Source: src/agents/coordinator.mjs
          and docs/ARCHITECTURE.md.</a:t>
            </a:r>
          </a:p>
        </p:txBody>
      </p:sp>
      <p:sp>
        <p:nvSpPr>
          <p:cNvPr id="4" name="Slide Number Placeholder 3"/>
          <p:cNvSpPr>
            <a:spLocks noGrp="1"/>
          </p:cNvSpPr>
          <p:nvPr>
            <p:ph type="sldNum" sz="quarter" idx="5"/>
          </p:nvPr>
        </p:nvSpPr>
        <p:spPr/>
        <p:txBody>
          <a:bodyPr/>
          <a:lstStyle/>
          <a:p>
            <a:fld id="{DB3807D5-46E1-41FA-B2D4-157A07C0D84E}" type="slidenum">
              <a:rPr lang="en-US" smtClean="0"/>
              <a:t>6</a:t>
            </a:fld>
            <a:endParaRPr lang="en-US"/>
          </a:p>
        </p:txBody>
      </p:sp>
    </p:spTree>
    <p:extLst>
      <p:ext uri="{BB962C8B-B14F-4D97-AF65-F5344CB8AC3E}">
        <p14:creationId xmlns:p14="http://schemas.microsoft.com/office/powerpoint/2010/main" val="1690204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three meet the hard requirements. Canal Loft saves money. Cedar Room is quieter.
          Harbor Hall offers two separate rooms but exceeds the preferred budget by AED 150. It
          remains AED 50 under the hard maximum. This makes clarification useful: the answer can
          change the recommendation. Source: src/domain/catalogue.mjs.</a:t>
            </a:r>
          </a:p>
        </p:txBody>
      </p:sp>
      <p:sp>
        <p:nvSpPr>
          <p:cNvPr id="4" name="Slide Number Placeholder 3"/>
          <p:cNvSpPr>
            <a:spLocks noGrp="1"/>
          </p:cNvSpPr>
          <p:nvPr>
            <p:ph type="sldNum" sz="quarter" idx="5"/>
          </p:nvPr>
        </p:nvSpPr>
        <p:spPr/>
        <p:txBody>
          <a:bodyPr/>
          <a:lstStyle/>
          <a:p>
            <a:fld id="{DB3807D5-46E1-41FA-B2D4-157A07C0D84E}" type="slidenum">
              <a:rPr lang="en-US" smtClean="0"/>
              <a:t>7</a:t>
            </a:fld>
            <a:endParaRPr lang="en-US"/>
          </a:p>
        </p:txBody>
      </p:sp>
    </p:spTree>
    <p:extLst>
      <p:ext uri="{BB962C8B-B14F-4D97-AF65-F5344CB8AC3E}">
        <p14:creationId xmlns:p14="http://schemas.microsoft.com/office/powerpoint/2010/main" val="3877241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leave priority undecided, then answer the specialist's question. Only the requested
          field can change during continuation. The answer keeps the same task ID and context ID. A
          missing budget can trigger an earlier question, so one task can need more than one
          clarification. Changing preferences between runs is more informative than repeatedly
          running an identical brief.</a:t>
            </a:r>
          </a:p>
        </p:txBody>
      </p:sp>
      <p:sp>
        <p:nvSpPr>
          <p:cNvPr id="4" name="Slide Number Placeholder 3"/>
          <p:cNvSpPr>
            <a:spLocks noGrp="1"/>
          </p:cNvSpPr>
          <p:nvPr>
            <p:ph type="sldNum" sz="quarter" idx="5"/>
          </p:nvPr>
        </p:nvSpPr>
        <p:spPr/>
        <p:txBody>
          <a:bodyPr/>
          <a:lstStyle/>
          <a:p>
            <a:fld id="{DB3807D5-46E1-41FA-B2D4-157A07C0D84E}" type="slidenum">
              <a:rPr lang="en-US" smtClean="0"/>
              <a:t>8</a:t>
            </a:fld>
            <a:endParaRPr lang="en-US"/>
          </a:p>
        </p:txBody>
      </p:sp>
    </p:spTree>
    <p:extLst>
      <p:ext uri="{BB962C8B-B14F-4D97-AF65-F5344CB8AC3E}">
        <p14:creationId xmlns:p14="http://schemas.microsoft.com/office/powerpoint/2010/main" val="3820167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A2A is the communication protocol, not the reasoning engine. Live AI has no scripted
          fallback. Connection errors remain errors. Evidence comes from the selected mode, observed
          provider calls, actual transport and whether the decisions respond to the brief. A
          different answer is not automatically better. Source: docs/ARCHITECTURE.md.</a:t>
            </a:r>
          </a:p>
        </p:txBody>
      </p:sp>
      <p:sp>
        <p:nvSpPr>
          <p:cNvPr id="4" name="Slide Number Placeholder 3"/>
          <p:cNvSpPr>
            <a:spLocks noGrp="1"/>
          </p:cNvSpPr>
          <p:nvPr>
            <p:ph type="sldNum" sz="quarter" idx="5"/>
          </p:nvPr>
        </p:nvSpPr>
        <p:spPr/>
        <p:txBody>
          <a:bodyPr/>
          <a:lstStyle/>
          <a:p>
            <a:fld id="{DB3807D5-46E1-41FA-B2D4-157A07C0D84E}" type="slidenum">
              <a:rPr lang="en-US" smtClean="0"/>
              <a:t>9</a:t>
            </a:fld>
            <a:endParaRPr lang="en-US"/>
          </a:p>
        </p:txBody>
      </p:sp>
    </p:spTree>
    <p:extLst>
      <p:ext uri="{BB962C8B-B14F-4D97-AF65-F5344CB8AC3E}">
        <p14:creationId xmlns:p14="http://schemas.microsoft.com/office/powerpoint/2010/main" val="748986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observations recorded in docs/VALIDATION.md, not guaranteed outputs for future
          runs. Both correct live runs returned recommendation artifacts and the coordinator
          accepted them. The first quiet-room attempt contained a budget explanation error. The next
          slide explains that limitation rather than hiding it.</a:t>
            </a:r>
          </a:p>
        </p:txBody>
      </p:sp>
      <p:sp>
        <p:nvSpPr>
          <p:cNvPr id="4" name="Slide Number Placeholder 3"/>
          <p:cNvSpPr>
            <a:spLocks noGrp="1"/>
          </p:cNvSpPr>
          <p:nvPr>
            <p:ph type="sldNum" sz="quarter" idx="5"/>
          </p:nvPr>
        </p:nvSpPr>
        <p:spPr/>
        <p:txBody>
          <a:bodyPr/>
          <a:lstStyle/>
          <a:p>
            <a:fld id="{DB3807D5-46E1-41FA-B2D4-157A07C0D84E}" type="slidenum">
              <a:rPr lang="en-US" smtClean="0"/>
              <a:t>10</a:t>
            </a:fld>
            <a:endParaRPr lang="en-US"/>
          </a:p>
        </p:txBody>
      </p:sp>
    </p:spTree>
    <p:extLst>
      <p:ext uri="{BB962C8B-B14F-4D97-AF65-F5344CB8AC3E}">
        <p14:creationId xmlns:p14="http://schemas.microsoft.com/office/powerpoint/2010/main" val="2576252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correction supplies computed budget facts to the reviewer and screens a narrow class
          of above/below-preferred-budget contradictions. It is not a general fact checker.
          Code-triggered corrections are labelled separately from model requests. A completed task
          cannot be reopened, so revision creates a new task linked by referenceTaskIds.
          Clarification, by contrast, continues the existing task. Sources:
          src/domain/budget-review.mjs, src/agents/coordinator.mjs and docs/VALIDATION.md.</a:t>
            </a:r>
          </a:p>
        </p:txBody>
      </p:sp>
      <p:sp>
        <p:nvSpPr>
          <p:cNvPr id="4" name="Slide Number Placeholder 3"/>
          <p:cNvSpPr>
            <a:spLocks noGrp="1"/>
          </p:cNvSpPr>
          <p:nvPr>
            <p:ph type="sldNum" sz="quarter" idx="5"/>
          </p:nvPr>
        </p:nvSpPr>
        <p:spPr/>
        <p:txBody>
          <a:bodyPr/>
          <a:lstStyle/>
          <a:p>
            <a:fld id="{DB3807D5-46E1-41FA-B2D4-157A07C0D84E}" type="slidenum">
              <a:rPr lang="en-US" smtClean="0"/>
              <a:t>11</a:t>
            </a:fld>
            <a:endParaRPr lang="en-US"/>
          </a:p>
        </p:txBody>
      </p:sp>
    </p:spTree>
    <p:extLst>
      <p:ext uri="{BB962C8B-B14F-4D97-AF65-F5344CB8AC3E}">
        <p14:creationId xmlns:p14="http://schemas.microsoft.com/office/powerpoint/2010/main" val="1765937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point out the brief editor, Rehearsal/Live AI selector, clarification form, comparison
          and result. The inspector is especially useful: it distinguishes an explanation of A2A
          from evidence that A2A requests actually crossed the local service boundary. The guide
          runs separately on port 5173.</a:t>
            </a:r>
          </a:p>
        </p:txBody>
      </p:sp>
      <p:sp>
        <p:nvSpPr>
          <p:cNvPr id="4" name="Slide Number Placeholder 3"/>
          <p:cNvSpPr>
            <a:spLocks noGrp="1"/>
          </p:cNvSpPr>
          <p:nvPr>
            <p:ph type="sldNum" sz="quarter" idx="5"/>
          </p:nvPr>
        </p:nvSpPr>
        <p:spPr/>
        <p:txBody>
          <a:bodyPr/>
          <a:lstStyle/>
          <a:p>
            <a:fld id="{DB3807D5-46E1-41FA-B2D4-157A07C0D84E}" type="slidenum">
              <a:rPr lang="en-US" smtClean="0"/>
              <a:t>12</a:t>
            </a:fld>
            <a:endParaRPr lang="en-US"/>
          </a:p>
        </p:txBody>
      </p:sp>
    </p:spTree>
    <p:extLst>
      <p:ext uri="{BB962C8B-B14F-4D97-AF65-F5344CB8AC3E}">
        <p14:creationId xmlns:p14="http://schemas.microsoft.com/office/powerpoint/2010/main" val="3371963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Rehearsal needs no key. For Live AI, the user enters their own OpenAI key in the ignored
          local .env and restarts the server. Never paste it into a slide, message or commit. The
          shareable example has a blank key. A GitHub repository contains the source, not a hosted
          Node service. Node 20.18 or later is required. Source: README.md and
          src/config/environment.mjs.</a:t>
            </a:r>
          </a:p>
        </p:txBody>
      </p:sp>
      <p:sp>
        <p:nvSpPr>
          <p:cNvPr id="4" name="Slide Number Placeholder 3"/>
          <p:cNvSpPr>
            <a:spLocks noGrp="1"/>
          </p:cNvSpPr>
          <p:nvPr>
            <p:ph type="sldNum" sz="quarter" idx="5"/>
          </p:nvPr>
        </p:nvSpPr>
        <p:spPr/>
        <p:txBody>
          <a:bodyPr/>
          <a:lstStyle/>
          <a:p>
            <a:fld id="{DB3807D5-46E1-41FA-B2D4-157A07C0D84E}" type="slidenum">
              <a:rPr lang="en-US" smtClean="0"/>
              <a:t>13</a:t>
            </a:fld>
            <a:endParaRPr lang="en-US"/>
          </a:p>
        </p:txBody>
      </p:sp>
    </p:spTree>
    <p:extLst>
      <p:ext uri="{BB962C8B-B14F-4D97-AF65-F5344CB8AC3E}">
        <p14:creationId xmlns:p14="http://schemas.microsoft.com/office/powerpoint/2010/main" val="80982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supported teaching scope is A2A 1.0 JSON-RPC with known-address discovery, messages,
          polling, cancellation, clarification and artifacts. Both services run locally. Browser
          checks include responsive layouts and automated WCAG A/AA checks, not an accessibility
          certification. Check docs/VALIDATION.md for dated evidence and limitations.</a:t>
            </a:r>
          </a:p>
        </p:txBody>
      </p:sp>
      <p:sp>
        <p:nvSpPr>
          <p:cNvPr id="4" name="Slide Number Placeholder 3"/>
          <p:cNvSpPr>
            <a:spLocks noGrp="1"/>
          </p:cNvSpPr>
          <p:nvPr>
            <p:ph type="sldNum" sz="quarter" idx="5"/>
          </p:nvPr>
        </p:nvSpPr>
        <p:spPr/>
        <p:txBody>
          <a:bodyPr/>
          <a:lstStyle/>
          <a:p>
            <a:fld id="{DB3807D5-46E1-41FA-B2D4-157A07C0D84E}" type="slidenum">
              <a:rPr lang="en-US" smtClean="0"/>
              <a:t>14</a:t>
            </a:fld>
            <a:endParaRPr lang="en-US"/>
          </a:p>
        </p:txBody>
      </p:sp>
    </p:spTree>
    <p:extLst>
      <p:ext uri="{BB962C8B-B14F-4D97-AF65-F5344CB8AC3E}">
        <p14:creationId xmlns:p14="http://schemas.microsoft.com/office/powerpoint/2010/main" val="3206644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the maximum at AED 1,600 and preferred budget at AED 1,400 for the first comparison.
          Use a new run to change the priority. If the live model takes a different valid path,
          discuss the actual evidence rather than claiming the slide predicted it. If the API fails,
          explicitly switch to Rehearsal and identify it as scripted decisions over real local A2A
          transport. Never claim an automatic fallback.</a:t>
            </a:r>
          </a:p>
        </p:txBody>
      </p:sp>
      <p:sp>
        <p:nvSpPr>
          <p:cNvPr id="4" name="Slide Number Placeholder 3"/>
          <p:cNvSpPr>
            <a:spLocks noGrp="1"/>
          </p:cNvSpPr>
          <p:nvPr>
            <p:ph type="sldNum" sz="quarter" idx="5"/>
          </p:nvPr>
        </p:nvSpPr>
        <p:spPr/>
        <p:txBody>
          <a:bodyPr/>
          <a:lstStyle/>
          <a:p>
            <a:fld id="{DB3807D5-46E1-41FA-B2D4-157A07C0D84E}" type="slidenum">
              <a:rPr lang="en-US" smtClean="0"/>
              <a:t>15</a:t>
            </a:fld>
            <a:endParaRPr lang="en-US"/>
          </a:p>
        </p:txBody>
      </p:sp>
    </p:spTree>
    <p:extLst>
      <p:ext uri="{BB962C8B-B14F-4D97-AF65-F5344CB8AC3E}">
        <p14:creationId xmlns:p14="http://schemas.microsoft.com/office/powerpoint/2010/main" val="1609558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the class: if the specialist asks a question, has the task failed? No. Clarification
          is part of the delegated job. Then ask: does a completed task guarantee a correct result?
          No. Our budget explanation error is a concrete example. The coordinator still has to
          evaluate what comes back. End by opening the repository or the VitePress guide for
          questions.</a:t>
            </a:r>
          </a:p>
        </p:txBody>
      </p:sp>
      <p:sp>
        <p:nvSpPr>
          <p:cNvPr id="4" name="Slide Number Placeholder 3"/>
          <p:cNvSpPr>
            <a:spLocks noGrp="1"/>
          </p:cNvSpPr>
          <p:nvPr>
            <p:ph type="sldNum" sz="quarter" idx="5"/>
          </p:nvPr>
        </p:nvSpPr>
        <p:spPr/>
        <p:txBody>
          <a:bodyPr/>
          <a:lstStyle/>
          <a:p>
            <a:fld id="{DB3807D5-46E1-41FA-B2D4-157A07C0D84E}" type="slidenum">
              <a:rPr lang="en-US" smtClean="0"/>
              <a:t>16</a:t>
            </a:fld>
            <a:endParaRPr lang="en-US"/>
          </a:p>
        </p:txBody>
      </p:sp>
    </p:spTree>
    <p:extLst>
      <p:ext uri="{BB962C8B-B14F-4D97-AF65-F5344CB8AC3E}">
        <p14:creationId xmlns:p14="http://schemas.microsoft.com/office/powerpoint/2010/main" val="3821679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0BEE1-DD36-75A2-CC1B-1CEF463363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842DC2-1850-6F1B-0A3A-F264EC0C00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761FBF-9284-2302-BD0D-FAF05A7AAE57}"/>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5" name="Footer Placeholder 4">
            <a:extLst>
              <a:ext uri="{FF2B5EF4-FFF2-40B4-BE49-F238E27FC236}">
                <a16:creationId xmlns:a16="http://schemas.microsoft.com/office/drawing/2014/main" id="{C46A19DF-66D8-6DAE-ACD3-7A23EFA1F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4584FE-463B-C5CA-6427-4C6F329F0A5E}"/>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3830714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C779F-8F3B-DA61-5C49-252CA383A3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5F89E3-929C-077D-DC57-CDA9746773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4222C2-019B-05AF-3F9E-AE584595806D}"/>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5" name="Footer Placeholder 4">
            <a:extLst>
              <a:ext uri="{FF2B5EF4-FFF2-40B4-BE49-F238E27FC236}">
                <a16:creationId xmlns:a16="http://schemas.microsoft.com/office/drawing/2014/main" id="{2300653F-EC86-2571-45F9-3EBF4FCE2A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05D8F3-F751-1173-2E1E-20FC8C106B54}"/>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1055939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F2A36-1B33-D578-AF08-5F52E333A1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3AF5E0-B8CE-243B-2A4A-93F5EB01BE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C70724-5D24-BAC0-BBDB-B344202D5544}"/>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5" name="Footer Placeholder 4">
            <a:extLst>
              <a:ext uri="{FF2B5EF4-FFF2-40B4-BE49-F238E27FC236}">
                <a16:creationId xmlns:a16="http://schemas.microsoft.com/office/drawing/2014/main" id="{3CD9995B-E027-626C-C920-7853510CD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5723F5-B222-A5EE-F59B-D8E743852FCD}"/>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3615539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8EFF8-91AF-182C-5007-B0323AE1F3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338D5-A6BA-F8F1-7253-DCD9E5BDCB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7D70EA-DED8-14AB-1798-D4E1ADB0A9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1C2A3C-68FE-31FE-4DD7-9221EA053D82}"/>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6" name="Footer Placeholder 5">
            <a:extLst>
              <a:ext uri="{FF2B5EF4-FFF2-40B4-BE49-F238E27FC236}">
                <a16:creationId xmlns:a16="http://schemas.microsoft.com/office/drawing/2014/main" id="{02CFAC63-1E24-A0E7-051E-7BEA2D9F98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4CA5C-F924-11B3-C7D3-EF43129FB738}"/>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144639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1E689-7794-3C61-6506-A5299BE848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C3A405-2353-253D-1054-00EBDDEF1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B80742-A1DF-5535-EA35-C51DE0915C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B766FF-D881-3F41-F75F-24B26CFB66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DA40D8-299F-9032-AD3A-B21685607E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9B7C6A-DC82-52C8-14E5-01B44511024D}"/>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8" name="Footer Placeholder 7">
            <a:extLst>
              <a:ext uri="{FF2B5EF4-FFF2-40B4-BE49-F238E27FC236}">
                <a16:creationId xmlns:a16="http://schemas.microsoft.com/office/drawing/2014/main" id="{F6FD0D8E-10AB-8D48-D769-0773AF56F7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93F515-AD88-471E-08BD-053155BC7EBD}"/>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3330714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6CB38-82CE-4C46-CD40-25210ECE3F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79F2C0-459D-CDAF-6557-A7A7D5C7266E}"/>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4" name="Footer Placeholder 3">
            <a:extLst>
              <a:ext uri="{FF2B5EF4-FFF2-40B4-BE49-F238E27FC236}">
                <a16:creationId xmlns:a16="http://schemas.microsoft.com/office/drawing/2014/main" id="{73F78DA3-7600-033A-8289-B5F044D659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628C56-B544-F24F-7688-8CF7B0AC324C}"/>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804699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50F9C4-6AB8-F133-DEF5-4E5F59624F42}"/>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3" name="Footer Placeholder 2">
            <a:extLst>
              <a:ext uri="{FF2B5EF4-FFF2-40B4-BE49-F238E27FC236}">
                <a16:creationId xmlns:a16="http://schemas.microsoft.com/office/drawing/2014/main" id="{5ED2537F-F5EC-CC52-CD35-16F0E1A7B2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7C94AC-23A6-88F5-A016-8D4FB26DBDA1}"/>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3500254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FAA97-34A0-EBD1-F4AD-2999AF033F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3249A9-338D-3767-C18A-7D34DFCE80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DB27C-BDA8-1B84-DA19-A35ED4ECC5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CD3BB5-70B9-94C7-AFC5-67A07AEFDCE6}"/>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6" name="Footer Placeholder 5">
            <a:extLst>
              <a:ext uri="{FF2B5EF4-FFF2-40B4-BE49-F238E27FC236}">
                <a16:creationId xmlns:a16="http://schemas.microsoft.com/office/drawing/2014/main" id="{8BBDB40C-CE41-78D9-4589-F40693DC47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5A58EC-BACE-6BF0-8356-B18E6FB98930}"/>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1976000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3AAAF-9AFD-43AA-A38B-2D71BF8E45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034AE18-7692-7C39-0599-8AF5EE346D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B1C494-77DF-D93C-0F9A-D42C74FAE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5BBCB2-64A9-0898-0D3C-5E628322E6B7}"/>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6" name="Footer Placeholder 5">
            <a:extLst>
              <a:ext uri="{FF2B5EF4-FFF2-40B4-BE49-F238E27FC236}">
                <a16:creationId xmlns:a16="http://schemas.microsoft.com/office/drawing/2014/main" id="{392607D7-3F57-A738-3AD2-FAB518AEC2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50E33B-69C7-233D-FBAC-1A098E49F276}"/>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1218109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ADAA-F46A-EEA3-06EF-DB00C6E4E5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FAB7E3-ABE1-711B-20BA-08014B984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413430-4000-643B-3C18-ADEC800B5AC0}"/>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5" name="Footer Placeholder 4">
            <a:extLst>
              <a:ext uri="{FF2B5EF4-FFF2-40B4-BE49-F238E27FC236}">
                <a16:creationId xmlns:a16="http://schemas.microsoft.com/office/drawing/2014/main" id="{90E63451-C31A-4B38-E600-A070F20F97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13767B-7D7B-34F7-4212-E6460CD27103}"/>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3574709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05C5B4-14F9-F152-195B-FA02843663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970731-9F5D-46CE-FDD6-3B8EFD46CC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495AF5-5C50-4265-37C1-6ECC66630774}"/>
              </a:ext>
            </a:extLst>
          </p:cNvPr>
          <p:cNvSpPr>
            <a:spLocks noGrp="1"/>
          </p:cNvSpPr>
          <p:nvPr>
            <p:ph type="dt" sz="half" idx="10"/>
          </p:nvPr>
        </p:nvSpPr>
        <p:spPr/>
        <p:txBody>
          <a:bodyPr/>
          <a:lstStyle/>
          <a:p>
            <a:fld id="{8DF72EF1-8F93-4801-8884-5108A1F17B4F}" type="datetimeFigureOut">
              <a:rPr lang="en-US" smtClean="0"/>
              <a:t>10/14/2026</a:t>
            </a:fld>
            <a:endParaRPr lang="en-US"/>
          </a:p>
        </p:txBody>
      </p:sp>
      <p:sp>
        <p:nvSpPr>
          <p:cNvPr id="5" name="Footer Placeholder 4">
            <a:extLst>
              <a:ext uri="{FF2B5EF4-FFF2-40B4-BE49-F238E27FC236}">
                <a16:creationId xmlns:a16="http://schemas.microsoft.com/office/drawing/2014/main" id="{CC4C6E6B-E28D-DC68-9CFD-F9C756B16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8A26EE-A885-A3B5-9CDF-659A586269AC}"/>
              </a:ext>
            </a:extLst>
          </p:cNvPr>
          <p:cNvSpPr>
            <a:spLocks noGrp="1"/>
          </p:cNvSpPr>
          <p:nvPr>
            <p:ph type="sldNum" sz="quarter" idx="12"/>
          </p:nvPr>
        </p:nvSpPr>
        <p:spPr/>
        <p:txBody>
          <a:bodyPr/>
          <a:lstStyle/>
          <a:p>
            <a:fld id="{D75534EF-FC4C-41D8-87AF-623CABC3627B}" type="slidenum">
              <a:rPr lang="en-US" smtClean="0"/>
              <a:t>‹#›</a:t>
            </a:fld>
            <a:endParaRPr lang="en-US"/>
          </a:p>
        </p:txBody>
      </p:sp>
    </p:spTree>
    <p:extLst>
      <p:ext uri="{BB962C8B-B14F-4D97-AF65-F5344CB8AC3E}">
        <p14:creationId xmlns:p14="http://schemas.microsoft.com/office/powerpoint/2010/main" val="2249447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FDE062-A4AA-7887-A59A-11656A00B2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794AC9-9E07-62F3-7C90-0ED2EAA30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0213B2-0FB2-FB73-47A0-1BED7C6FBE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F72EF1-8F93-4801-8884-5108A1F17B4F}" type="datetimeFigureOut">
              <a:rPr lang="en-US" smtClean="0"/>
              <a:t>10/14/2026</a:t>
            </a:fld>
            <a:endParaRPr lang="en-US"/>
          </a:p>
        </p:txBody>
      </p:sp>
      <p:sp>
        <p:nvSpPr>
          <p:cNvPr id="5" name="Footer Placeholder 4">
            <a:extLst>
              <a:ext uri="{FF2B5EF4-FFF2-40B4-BE49-F238E27FC236}">
                <a16:creationId xmlns:a16="http://schemas.microsoft.com/office/drawing/2014/main" id="{35D4CD97-5EB7-3BF3-A728-1048731D45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720465-210D-2DEC-205B-01F063519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5534EF-FC4C-41D8-87AF-623CABC3627B}" type="slidenum">
              <a:rPr lang="en-US" smtClean="0"/>
              <a:t>‹#›</a:t>
            </a:fld>
            <a:endParaRPr lang="en-US"/>
          </a:p>
        </p:txBody>
      </p:sp>
    </p:spTree>
    <p:extLst>
      <p:ext uri="{BB962C8B-B14F-4D97-AF65-F5344CB8AC3E}">
        <p14:creationId xmlns:p14="http://schemas.microsoft.com/office/powerpoint/2010/main" val="3673189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0B01EB-6E09-86B7-CA7E-CDEB09363662}"/>
              </a:ext>
            </a:extLst>
          </p:cNvPr>
          <p:cNvSpPr txBox="1"/>
          <p:nvPr/>
        </p:nvSpPr>
        <p:spPr>
          <a:xfrm>
            <a:off x="647700" y="1705868"/>
            <a:ext cx="10896600" cy="274836"/>
          </a:xfrm>
          <a:prstGeom prst="rect">
            <a:avLst/>
          </a:prstGeom>
          <a:noFill/>
        </p:spPr>
        <p:txBody>
          <a:bodyPr vert="horz" wrap="square" lIns="0" tIns="0" rIns="0" bIns="0" rtlCol="0" anchor="t">
            <a:noAutofit/>
          </a:bodyPr>
          <a:lstStyle/>
          <a:p>
            <a:pPr>
              <a:lnSpc>
                <a:spcPts val="1665"/>
              </a:lnSpc>
            </a:pPr>
            <a:r>
              <a:rPr lang="en-US" sz="1125" b="1">
                <a:solidFill>
                  <a:srgbClr val="D5E9AD"/>
                </a:solidFill>
                <a:latin typeface="Segoe UI" panose="020B0502040204020203" pitchFamily="34" charset="0"/>
              </a:rPr>
              <a:t>AI OPERATIONS · FINAL COURSE TASK · TEAM 3</a:t>
            </a:r>
          </a:p>
        </p:txBody>
      </p:sp>
      <p:sp>
        <p:nvSpPr>
          <p:cNvPr id="3" name="TextBox 2">
            <a:extLst>
              <a:ext uri="{FF2B5EF4-FFF2-40B4-BE49-F238E27FC236}">
                <a16:creationId xmlns:a16="http://schemas.microsoft.com/office/drawing/2014/main" id="{21C147D2-BF54-3307-10DD-18235A21DE43}"/>
              </a:ext>
            </a:extLst>
          </p:cNvPr>
          <p:cNvSpPr txBox="1"/>
          <p:nvPr/>
        </p:nvSpPr>
        <p:spPr>
          <a:xfrm>
            <a:off x="647700" y="2202954"/>
            <a:ext cx="10896600" cy="1441053"/>
          </a:xfrm>
          <a:prstGeom prst="rect">
            <a:avLst/>
          </a:prstGeom>
          <a:noFill/>
        </p:spPr>
        <p:txBody>
          <a:bodyPr vert="horz" wrap="square" lIns="0" tIns="0" rIns="0" bIns="0" rtlCol="0" anchor="t">
            <a:noAutofit/>
          </a:bodyPr>
          <a:lstStyle/>
          <a:p>
            <a:pPr>
              <a:lnSpc>
                <a:spcPts val="5424"/>
              </a:lnSpc>
            </a:pPr>
            <a:r>
              <a:rPr lang="en-US" sz="4800" b="1">
                <a:solidFill>
                  <a:srgbClr val="F6F5E9"/>
                </a:solidFill>
                <a:latin typeface="Segoe UI" panose="020B0502040204020203" pitchFamily="34" charset="0"/>
              </a:rPr>
              <a:t>How do agents</a:t>
            </a:r>
          </a:p>
          <a:p>
            <a:pPr>
              <a:lnSpc>
                <a:spcPts val="5424"/>
              </a:lnSpc>
            </a:pPr>
            <a:r>
              <a:rPr lang="en-US" sz="4800" b="1">
                <a:solidFill>
                  <a:srgbClr val="F6F5E9"/>
                </a:solidFill>
                <a:latin typeface="Segoe UI" panose="020B0502040204020203" pitchFamily="34" charset="0"/>
              </a:rPr>
              <a:t>talk to other agents?</a:t>
            </a:r>
          </a:p>
        </p:txBody>
      </p:sp>
      <p:sp>
        <p:nvSpPr>
          <p:cNvPr id="4" name="TextBox 3">
            <a:extLst>
              <a:ext uri="{FF2B5EF4-FFF2-40B4-BE49-F238E27FC236}">
                <a16:creationId xmlns:a16="http://schemas.microsoft.com/office/drawing/2014/main" id="{08CC8F47-03FC-2809-F35F-161BCA65EA37}"/>
              </a:ext>
            </a:extLst>
          </p:cNvPr>
          <p:cNvSpPr txBox="1"/>
          <p:nvPr/>
        </p:nvSpPr>
        <p:spPr>
          <a:xfrm>
            <a:off x="647700" y="3913882"/>
            <a:ext cx="10896600" cy="477838"/>
          </a:xfrm>
          <a:prstGeom prst="rect">
            <a:avLst/>
          </a:prstGeom>
          <a:noFill/>
        </p:spPr>
        <p:txBody>
          <a:bodyPr vert="horz" wrap="square" lIns="0" tIns="0" rIns="0" bIns="0" rtlCol="0" anchor="t">
            <a:noAutofit/>
          </a:bodyPr>
          <a:lstStyle/>
          <a:p>
            <a:pPr>
              <a:lnSpc>
                <a:spcPts val="3263"/>
              </a:lnSpc>
            </a:pPr>
            <a:r>
              <a:rPr lang="en-US" sz="2175">
                <a:solidFill>
                  <a:srgbClr val="F6F5E9"/>
                </a:solidFill>
                <a:latin typeface="Segoe UI" panose="020B0502040204020203" pitchFamily="34" charset="0"/>
              </a:rPr>
              <a:t>Relay: two jobs, one workshop, a visible A2A handoff.</a:t>
            </a:r>
          </a:p>
        </p:txBody>
      </p:sp>
      <p:sp>
        <p:nvSpPr>
          <p:cNvPr id="5" name="TextBox 4">
            <a:extLst>
              <a:ext uri="{FF2B5EF4-FFF2-40B4-BE49-F238E27FC236}">
                <a16:creationId xmlns:a16="http://schemas.microsoft.com/office/drawing/2014/main" id="{815E47FD-6541-E62C-0357-51C72D449367}"/>
              </a:ext>
            </a:extLst>
          </p:cNvPr>
          <p:cNvSpPr txBox="1"/>
          <p:nvPr/>
        </p:nvSpPr>
        <p:spPr>
          <a:xfrm>
            <a:off x="647700" y="4909245"/>
            <a:ext cx="10896600" cy="306388"/>
          </a:xfrm>
          <a:prstGeom prst="rect">
            <a:avLst/>
          </a:prstGeom>
          <a:noFill/>
        </p:spPr>
        <p:txBody>
          <a:bodyPr vert="horz" wrap="square" lIns="0" tIns="0" rIns="0" bIns="0" rtlCol="0" anchor="t">
            <a:noAutofit/>
          </a:bodyPr>
          <a:lstStyle/>
          <a:p>
            <a:pPr>
              <a:lnSpc>
                <a:spcPts val="1913"/>
              </a:lnSpc>
            </a:pPr>
            <a:r>
              <a:rPr lang="en-US" sz="1275">
                <a:solidFill>
                  <a:srgbClr val="D3E0CD"/>
                </a:solidFill>
                <a:latin typeface="Segoe UI" panose="020B0502040204020203" pitchFamily="34" charset="0"/>
              </a:rPr>
              <a:t>A local teaching demo with invented venue data</a:t>
            </a:r>
          </a:p>
        </p:txBody>
      </p:sp>
    </p:spTree>
    <p:extLst>
      <p:ext uri="{BB962C8B-B14F-4D97-AF65-F5344CB8AC3E}">
        <p14:creationId xmlns:p14="http://schemas.microsoft.com/office/powerpoint/2010/main" val="720787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3A5B50-2F75-040C-7B18-3858B08AE835}"/>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The job we want done</a:t>
            </a:r>
          </a:p>
        </p:txBody>
      </p:sp>
      <p:sp>
        <p:nvSpPr>
          <p:cNvPr id="3" name="TextBox 2">
            <a:extLst>
              <a:ext uri="{FF2B5EF4-FFF2-40B4-BE49-F238E27FC236}">
                <a16:creationId xmlns:a16="http://schemas.microsoft.com/office/drawing/2014/main" id="{4F76A40F-C62A-27F1-3281-9B8ADED38597}"/>
              </a:ext>
            </a:extLst>
          </p:cNvPr>
          <p:cNvSpPr txBox="1"/>
          <p:nvPr/>
        </p:nvSpPr>
        <p:spPr>
          <a:xfrm>
            <a:off x="647700" y="1374428"/>
            <a:ext cx="10896600" cy="1002605"/>
          </a:xfrm>
          <a:prstGeom prst="rect">
            <a:avLst/>
          </a:prstGeom>
          <a:noFill/>
        </p:spPr>
        <p:txBody>
          <a:bodyPr vert="horz" wrap="square" lIns="0" tIns="0" rIns="0" bIns="0" rtlCol="0" anchor="t">
            <a:noAutofit/>
          </a:bodyPr>
          <a:lstStyle/>
          <a:p>
            <a:pPr>
              <a:lnSpc>
                <a:spcPts val="3697"/>
              </a:lnSpc>
            </a:pPr>
            <a:r>
              <a:rPr lang="en-US" sz="2550">
                <a:solidFill>
                  <a:srgbClr val="173F35"/>
                </a:solidFill>
                <a:latin typeface="Segoe UI" panose="020B0502040204020203" pitchFamily="34" charset="0"/>
              </a:rPr>
              <a:t>“Find a venue for a 30-person workshop.</a:t>
            </a:r>
          </a:p>
          <a:p>
            <a:pPr>
              <a:lnSpc>
                <a:spcPts val="3697"/>
              </a:lnSpc>
            </a:pPr>
            <a:r>
              <a:rPr lang="en-US" sz="2550">
                <a:solidFill>
                  <a:srgbClr val="173F35"/>
                </a:solidFill>
                <a:latin typeface="Segoe UI" panose="020B0502040204020203" pitchFamily="34" charset="0"/>
              </a:rPr>
              <a:t>Stay under AED 1,600. Explain the trade-off.”</a:t>
            </a:r>
          </a:p>
        </p:txBody>
      </p:sp>
      <p:sp>
        <p:nvSpPr>
          <p:cNvPr id="4" name="TextBox 3">
            <a:extLst>
              <a:ext uri="{FF2B5EF4-FFF2-40B4-BE49-F238E27FC236}">
                <a16:creationId xmlns:a16="http://schemas.microsoft.com/office/drawing/2014/main" id="{8BFC9724-914D-9FA3-4BC1-31720C79246E}"/>
              </a:ext>
            </a:extLst>
          </p:cNvPr>
          <p:cNvSpPr txBox="1"/>
          <p:nvPr/>
        </p:nvSpPr>
        <p:spPr>
          <a:xfrm>
            <a:off x="647700" y="2675483"/>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The coordinator owns the request</a:t>
            </a:r>
          </a:p>
        </p:txBody>
      </p:sp>
      <p:sp>
        <p:nvSpPr>
          <p:cNvPr id="5" name="TextBox 4">
            <a:extLst>
              <a:ext uri="{FF2B5EF4-FFF2-40B4-BE49-F238E27FC236}">
                <a16:creationId xmlns:a16="http://schemas.microsoft.com/office/drawing/2014/main" id="{32F02BA9-8EFA-8159-C8A0-8909A8F5128F}"/>
              </a:ext>
            </a:extLst>
          </p:cNvPr>
          <p:cNvSpPr txBox="1"/>
          <p:nvPr/>
        </p:nvSpPr>
        <p:spPr>
          <a:xfrm>
            <a:off x="647700" y="3130302"/>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It delegates the search, relays questions and reviews the recommendation.</a:t>
            </a:r>
          </a:p>
        </p:txBody>
      </p:sp>
      <p:sp>
        <p:nvSpPr>
          <p:cNvPr id="6" name="TextBox 5">
            <a:extLst>
              <a:ext uri="{FF2B5EF4-FFF2-40B4-BE49-F238E27FC236}">
                <a16:creationId xmlns:a16="http://schemas.microsoft.com/office/drawing/2014/main" id="{B2A0A25F-E3A4-06A6-E707-C064A32AE0D9}"/>
              </a:ext>
            </a:extLst>
          </p:cNvPr>
          <p:cNvSpPr txBox="1"/>
          <p:nvPr/>
        </p:nvSpPr>
        <p:spPr>
          <a:xfrm>
            <a:off x="6381750" y="2675483"/>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The specialist owns the search</a:t>
            </a:r>
          </a:p>
        </p:txBody>
      </p:sp>
      <p:sp>
        <p:nvSpPr>
          <p:cNvPr id="7" name="TextBox 6">
            <a:extLst>
              <a:ext uri="{FF2B5EF4-FFF2-40B4-BE49-F238E27FC236}">
                <a16:creationId xmlns:a16="http://schemas.microsoft.com/office/drawing/2014/main" id="{8419F805-7D37-2689-2A47-C1CACBF7F197}"/>
              </a:ext>
            </a:extLst>
          </p:cNvPr>
          <p:cNvSpPr txBox="1"/>
          <p:nvPr/>
        </p:nvSpPr>
        <p:spPr>
          <a:xfrm>
            <a:off x="6381750" y="3130302"/>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It checks the catalogue, asks what matters, and recommends a venue or rejects the brief.</a:t>
            </a:r>
          </a:p>
        </p:txBody>
      </p:sp>
    </p:spTree>
    <p:extLst>
      <p:ext uri="{BB962C8B-B14F-4D97-AF65-F5344CB8AC3E}">
        <p14:creationId xmlns:p14="http://schemas.microsoft.com/office/powerpoint/2010/main" val="2550811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538567-A254-FCDC-0828-CA753E96F450}"/>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A tool call and an agent delegation</a:t>
            </a:r>
          </a:p>
        </p:txBody>
      </p:sp>
      <p:sp>
        <p:nvSpPr>
          <p:cNvPr id="3" name="TextBox 2">
            <a:extLst>
              <a:ext uri="{FF2B5EF4-FFF2-40B4-BE49-F238E27FC236}">
                <a16:creationId xmlns:a16="http://schemas.microsoft.com/office/drawing/2014/main" id="{5878EEC0-03F5-EDD4-0B72-3B923B10DA99}"/>
              </a:ext>
            </a:extLst>
          </p:cNvPr>
          <p:cNvSpPr txBox="1"/>
          <p:nvPr/>
        </p:nvSpPr>
        <p:spPr>
          <a:xfrm>
            <a:off x="647700" y="4754314"/>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In this demo, catalogue lookup is a direct function call. MCP is explained, not connected.</a:t>
            </a:r>
          </a:p>
        </p:txBody>
      </p:sp>
      <p:graphicFrame>
        <p:nvGraphicFramePr>
          <p:cNvPr id="4" name="Table 3">
            <a:extLst>
              <a:ext uri="{FF2B5EF4-FFF2-40B4-BE49-F238E27FC236}">
                <a16:creationId xmlns:a16="http://schemas.microsoft.com/office/drawing/2014/main" id="{7444F410-FC77-D047-6D99-2DDB6906AA4C}"/>
              </a:ext>
            </a:extLst>
          </p:cNvPr>
          <p:cNvGraphicFramePr>
            <a:graphicFrameLocks noGrp="1"/>
          </p:cNvGraphicFramePr>
          <p:nvPr>
            <p:extLst>
              <p:ext uri="{D42A27DB-BD31-4B8C-83A1-F6EECF244321}">
                <p14:modId xmlns:p14="http://schemas.microsoft.com/office/powerpoint/2010/main" val="1726085197"/>
              </p:ext>
            </p:extLst>
          </p:nvPr>
        </p:nvGraphicFramePr>
        <p:xfrm>
          <a:off x="647700" y="1374428"/>
          <a:ext cx="10896600" cy="3075087"/>
        </p:xfrm>
        <a:graphic>
          <a:graphicData uri="http://schemas.openxmlformats.org/drawingml/2006/table">
            <a:tbl>
              <a:tblPr firstRow="1" bandRow="1">
                <a:tableStyleId>{5C22544A-7EE6-4342-B048-85BDC9FD1C3A}</a:tableStyleId>
              </a:tblPr>
              <a:tblGrid>
                <a:gridCol w="2463403">
                  <a:extLst>
                    <a:ext uri="{9D8B030D-6E8A-4147-A177-3AD203B41FA5}">
                      <a16:colId xmlns:a16="http://schemas.microsoft.com/office/drawing/2014/main" val="2957639391"/>
                    </a:ext>
                  </a:extLst>
                </a:gridCol>
                <a:gridCol w="4181773">
                  <a:extLst>
                    <a:ext uri="{9D8B030D-6E8A-4147-A177-3AD203B41FA5}">
                      <a16:colId xmlns:a16="http://schemas.microsoft.com/office/drawing/2014/main" val="2380631968"/>
                    </a:ext>
                  </a:extLst>
                </a:gridCol>
                <a:gridCol w="4251424">
                  <a:extLst>
                    <a:ext uri="{9D8B030D-6E8A-4147-A177-3AD203B41FA5}">
                      <a16:colId xmlns:a16="http://schemas.microsoft.com/office/drawing/2014/main" val="4169117739"/>
                    </a:ext>
                  </a:extLst>
                </a:gridCol>
              </a:tblGrid>
              <a:tr h="577304">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Question</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Tool through MCP</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Agent through A2A</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extLst>
                  <a:ext uri="{0D108BD9-81ED-4DB2-BD59-A6C34878D82A}">
                    <a16:rowId xmlns:a16="http://schemas.microsoft.com/office/drawing/2014/main" val="1034639478"/>
                  </a:ext>
                </a:extLst>
              </a:tr>
              <a:tr h="624334">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What is requested?</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A named operation and its inputs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A goal with context and constraints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3822284210"/>
                  </a:ext>
                </a:extLst>
              </a:tr>
              <a:tr h="934343">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Who chooses the steps?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The calling agent chooses the tool operation</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The receiving agent can choose how to work</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3990365142"/>
                  </a:ext>
                </a:extLst>
              </a:tr>
              <a:tr h="934343">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What comes back?</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The operation's result</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Task status, a question, rejection or an artifact</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1141579033"/>
                  </a:ext>
                </a:extLst>
              </a:tr>
            </a:tbl>
          </a:graphicData>
        </a:graphic>
      </p:graphicFrame>
    </p:spTree>
    <p:extLst>
      <p:ext uri="{BB962C8B-B14F-4D97-AF65-F5344CB8AC3E}">
        <p14:creationId xmlns:p14="http://schemas.microsoft.com/office/powerpoint/2010/main" val="32249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3000FD-4B09-91CF-7B9B-CAF2CB9F2DCA}"/>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Two services, separate responsibilities</a:t>
            </a:r>
          </a:p>
        </p:txBody>
      </p:sp>
      <p:sp>
        <p:nvSpPr>
          <p:cNvPr id="3" name="TextBox 2">
            <a:extLst>
              <a:ext uri="{FF2B5EF4-FFF2-40B4-BE49-F238E27FC236}">
                <a16:creationId xmlns:a16="http://schemas.microsoft.com/office/drawing/2014/main" id="{D6C3CF72-5724-436A-BCE0-F2D80E9272D1}"/>
              </a:ext>
            </a:extLst>
          </p:cNvPr>
          <p:cNvSpPr txBox="1"/>
          <p:nvPr/>
        </p:nvSpPr>
        <p:spPr>
          <a:xfrm>
            <a:off x="647700" y="1374428"/>
            <a:ext cx="5162550" cy="292100"/>
          </a:xfrm>
          <a:prstGeom prst="rect">
            <a:avLst/>
          </a:prstGeom>
          <a:noFill/>
        </p:spPr>
        <p:txBody>
          <a:bodyPr vert="horz" wrap="square" lIns="0" tIns="0" rIns="0" bIns="0" rtlCol="0" anchor="t">
            <a:noAutofit/>
          </a:bodyPr>
          <a:lstStyle/>
          <a:p>
            <a:pPr>
              <a:lnSpc>
                <a:spcPts val="1800"/>
              </a:lnSpc>
            </a:pPr>
            <a:r>
              <a:rPr lang="en-US" sz="1125" b="1">
                <a:solidFill>
                  <a:srgbClr val="173F35"/>
                </a:solidFill>
                <a:latin typeface="Segoe UI" panose="020B0502040204020203" pitchFamily="34" charset="0"/>
              </a:rPr>
              <a:t>COORDINATOR · PORT 8780</a:t>
            </a:r>
          </a:p>
        </p:txBody>
      </p:sp>
      <p:sp>
        <p:nvSpPr>
          <p:cNvPr id="4" name="TextBox 3">
            <a:extLst>
              <a:ext uri="{FF2B5EF4-FFF2-40B4-BE49-F238E27FC236}">
                <a16:creationId xmlns:a16="http://schemas.microsoft.com/office/drawing/2014/main" id="{31ABA75A-F3D0-75FB-1738-9A742CD9759F}"/>
              </a:ext>
            </a:extLst>
          </p:cNvPr>
          <p:cNvSpPr txBox="1"/>
          <p:nvPr/>
        </p:nvSpPr>
        <p:spPr>
          <a:xfrm>
            <a:off x="647700" y="188877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The user's side</a:t>
            </a:r>
          </a:p>
        </p:txBody>
      </p:sp>
      <p:sp>
        <p:nvSpPr>
          <p:cNvPr id="5" name="TextBox 4">
            <a:extLst>
              <a:ext uri="{FF2B5EF4-FFF2-40B4-BE49-F238E27FC236}">
                <a16:creationId xmlns:a16="http://schemas.microsoft.com/office/drawing/2014/main" id="{5C7784DC-F2C8-F287-8E10-F30B19C41022}"/>
              </a:ext>
            </a:extLst>
          </p:cNvPr>
          <p:cNvSpPr txBox="1"/>
          <p:nvPr/>
        </p:nvSpPr>
        <p:spPr>
          <a:xfrm>
            <a:off x="647700" y="2343596"/>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Serves the UI, discovers the specialist, sends the brief and reviews its answer.</a:t>
            </a:r>
          </a:p>
        </p:txBody>
      </p:sp>
      <p:sp>
        <p:nvSpPr>
          <p:cNvPr id="6" name="TextBox 5">
            <a:extLst>
              <a:ext uri="{FF2B5EF4-FFF2-40B4-BE49-F238E27FC236}">
                <a16:creationId xmlns:a16="http://schemas.microsoft.com/office/drawing/2014/main" id="{60BA29D0-2261-D0F8-9F68-A0AE5D0DAA9A}"/>
              </a:ext>
            </a:extLst>
          </p:cNvPr>
          <p:cNvSpPr txBox="1"/>
          <p:nvPr/>
        </p:nvSpPr>
        <p:spPr>
          <a:xfrm>
            <a:off x="6381750" y="1374428"/>
            <a:ext cx="5162550" cy="292100"/>
          </a:xfrm>
          <a:prstGeom prst="rect">
            <a:avLst/>
          </a:prstGeom>
          <a:noFill/>
        </p:spPr>
        <p:txBody>
          <a:bodyPr vert="horz" wrap="square" lIns="0" tIns="0" rIns="0" bIns="0" rtlCol="0" anchor="t">
            <a:noAutofit/>
          </a:bodyPr>
          <a:lstStyle/>
          <a:p>
            <a:pPr>
              <a:lnSpc>
                <a:spcPts val="1800"/>
              </a:lnSpc>
            </a:pPr>
            <a:r>
              <a:rPr lang="en-US" sz="1125" b="1">
                <a:solidFill>
                  <a:srgbClr val="173F35"/>
                </a:solidFill>
                <a:latin typeface="Segoe UI" panose="020B0502040204020203" pitchFamily="34" charset="0"/>
              </a:rPr>
              <a:t>VENUE SPECIALIST · PORT 8781</a:t>
            </a:r>
          </a:p>
        </p:txBody>
      </p:sp>
      <p:sp>
        <p:nvSpPr>
          <p:cNvPr id="7" name="TextBox 6">
            <a:extLst>
              <a:ext uri="{FF2B5EF4-FFF2-40B4-BE49-F238E27FC236}">
                <a16:creationId xmlns:a16="http://schemas.microsoft.com/office/drawing/2014/main" id="{14C951A6-A68C-A1C4-3F25-34B50D52384B}"/>
              </a:ext>
            </a:extLst>
          </p:cNvPr>
          <p:cNvSpPr txBox="1"/>
          <p:nvPr/>
        </p:nvSpPr>
        <p:spPr>
          <a:xfrm>
            <a:off x="6381750" y="188877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The delegated job</a:t>
            </a:r>
          </a:p>
        </p:txBody>
      </p:sp>
      <p:sp>
        <p:nvSpPr>
          <p:cNvPr id="8" name="TextBox 7">
            <a:extLst>
              <a:ext uri="{FF2B5EF4-FFF2-40B4-BE49-F238E27FC236}">
                <a16:creationId xmlns:a16="http://schemas.microsoft.com/office/drawing/2014/main" id="{39678018-152B-82FF-DE50-EAD356501957}"/>
              </a:ext>
            </a:extLst>
          </p:cNvPr>
          <p:cNvSpPr txBox="1"/>
          <p:nvPr/>
        </p:nvSpPr>
        <p:spPr>
          <a:xfrm>
            <a:off x="6381750" y="2343596"/>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Uses its own prompt and catalogue tool to decide what to ask and recommend.</a:t>
            </a:r>
          </a:p>
        </p:txBody>
      </p:sp>
      <p:sp>
        <p:nvSpPr>
          <p:cNvPr id="9" name="TextBox 8">
            <a:extLst>
              <a:ext uri="{FF2B5EF4-FFF2-40B4-BE49-F238E27FC236}">
                <a16:creationId xmlns:a16="http://schemas.microsoft.com/office/drawing/2014/main" id="{613B07DC-F3B5-FB6C-42A9-265DDA25C82D}"/>
              </a:ext>
            </a:extLst>
          </p:cNvPr>
          <p:cNvSpPr txBox="1"/>
          <p:nvPr/>
        </p:nvSpPr>
        <p:spPr>
          <a:xfrm>
            <a:off x="647700" y="3303538"/>
            <a:ext cx="10896600" cy="477838"/>
          </a:xfrm>
          <a:prstGeom prst="rect">
            <a:avLst/>
          </a:prstGeom>
          <a:noFill/>
        </p:spPr>
        <p:txBody>
          <a:bodyPr vert="horz" wrap="square" lIns="0" tIns="0" rIns="0" bIns="0" rtlCol="0" anchor="t">
            <a:noAutofit/>
          </a:bodyPr>
          <a:lstStyle/>
          <a:p>
            <a:pPr>
              <a:lnSpc>
                <a:spcPts val="3263"/>
              </a:lnSpc>
            </a:pPr>
            <a:r>
              <a:rPr lang="en-US" sz="2250">
                <a:solidFill>
                  <a:srgbClr val="173F35"/>
                </a:solidFill>
                <a:latin typeface="Segoe UI" panose="020B0502040204020203" pitchFamily="34" charset="0"/>
              </a:rPr>
              <a:t>The handoff crosses an HTTP boundary using A2A 1.0 JSON-RPC.</a:t>
            </a:r>
          </a:p>
        </p:txBody>
      </p:sp>
      <p:sp>
        <p:nvSpPr>
          <p:cNvPr id="10" name="TextBox 9">
            <a:extLst>
              <a:ext uri="{FF2B5EF4-FFF2-40B4-BE49-F238E27FC236}">
                <a16:creationId xmlns:a16="http://schemas.microsoft.com/office/drawing/2014/main" id="{3BACAFEC-A0CD-725E-A42B-F9D227B9CAFA}"/>
              </a:ext>
            </a:extLst>
          </p:cNvPr>
          <p:cNvSpPr txBox="1"/>
          <p:nvPr/>
        </p:nvSpPr>
        <p:spPr>
          <a:xfrm>
            <a:off x="647700" y="4079825"/>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Official @a2a-js/sdk 1.3.0 · Two local services in one Node.js process</a:t>
            </a:r>
          </a:p>
        </p:txBody>
      </p:sp>
    </p:spTree>
    <p:extLst>
      <p:ext uri="{BB962C8B-B14F-4D97-AF65-F5344CB8AC3E}">
        <p14:creationId xmlns:p14="http://schemas.microsoft.com/office/powerpoint/2010/main" val="2151256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23BA77-D157-1C62-8403-11A5B689DCAE}"/>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Discovery begins with an Agent Card</a:t>
            </a:r>
          </a:p>
        </p:txBody>
      </p:sp>
      <p:sp>
        <p:nvSpPr>
          <p:cNvPr id="3" name="TextBox 2">
            <a:extLst>
              <a:ext uri="{FF2B5EF4-FFF2-40B4-BE49-F238E27FC236}">
                <a16:creationId xmlns:a16="http://schemas.microsoft.com/office/drawing/2014/main" id="{3A4D16EA-47ED-4B2B-3AA5-AC14E663E47A}"/>
              </a:ext>
            </a:extLst>
          </p:cNvPr>
          <p:cNvSpPr txBox="1"/>
          <p:nvPr/>
        </p:nvSpPr>
        <p:spPr>
          <a:xfrm>
            <a:off x="647700" y="1374428"/>
            <a:ext cx="10896600" cy="892175"/>
          </a:xfrm>
          <a:prstGeom prst="rect">
            <a:avLst/>
          </a:prstGeom>
          <a:noFill/>
        </p:spPr>
        <p:txBody>
          <a:bodyPr vert="horz" wrap="square" lIns="0" tIns="0" rIns="0" bIns="0" rtlCol="0" anchor="t">
            <a:noAutofit/>
          </a:bodyPr>
          <a:lstStyle/>
          <a:p>
            <a:pPr>
              <a:lnSpc>
                <a:spcPts val="3263"/>
              </a:lnSpc>
            </a:pPr>
            <a:r>
              <a:rPr lang="en-US" sz="2250">
                <a:solidFill>
                  <a:srgbClr val="173F35"/>
                </a:solidFill>
                <a:latin typeface="Segoe UI" panose="020B0502040204020203" pitchFamily="34" charset="0"/>
              </a:rPr>
              <a:t>The coordinator knows an address.</a:t>
            </a:r>
          </a:p>
          <a:p>
            <a:pPr>
              <a:lnSpc>
                <a:spcPts val="3263"/>
              </a:lnSpc>
            </a:pPr>
            <a:r>
              <a:rPr lang="en-US" sz="2250">
                <a:solidFill>
                  <a:srgbClr val="173F35"/>
                </a:solidFill>
                <a:latin typeface="Segoe UI" panose="020B0502040204020203" pitchFamily="34" charset="0"/>
              </a:rPr>
              <a:t>It reads what the specialist offers before delegating.</a:t>
            </a:r>
          </a:p>
        </p:txBody>
      </p:sp>
      <p:sp>
        <p:nvSpPr>
          <p:cNvPr id="4" name="TextBox 3">
            <a:extLst>
              <a:ext uri="{FF2B5EF4-FFF2-40B4-BE49-F238E27FC236}">
                <a16:creationId xmlns:a16="http://schemas.microsoft.com/office/drawing/2014/main" id="{7984D348-952A-8DA7-D0C4-D78E8E661765}"/>
              </a:ext>
            </a:extLst>
          </p:cNvPr>
          <p:cNvSpPr txBox="1"/>
          <p:nvPr/>
        </p:nvSpPr>
        <p:spPr>
          <a:xfrm>
            <a:off x="647700" y="2565053"/>
            <a:ext cx="10896600" cy="459680"/>
          </a:xfrm>
          <a:prstGeom prst="rect">
            <a:avLst/>
          </a:prstGeom>
          <a:noFill/>
        </p:spPr>
        <p:txBody>
          <a:bodyPr vert="horz" wrap="square" lIns="0" tIns="0" rIns="0" bIns="0" rtlCol="0" anchor="t">
            <a:noAutofit/>
          </a:bodyPr>
          <a:lstStyle/>
          <a:p>
            <a:pPr>
              <a:lnSpc>
                <a:spcPts val="3120"/>
              </a:lnSpc>
            </a:pPr>
            <a:r>
              <a:rPr lang="en-US" sz="1950">
                <a:solidFill>
                  <a:srgbClr val="173F35"/>
                </a:solidFill>
                <a:latin typeface="Consolas" panose="020B0609020204030204" pitchFamily="49" charset="0"/>
              </a:rPr>
              <a:t>GET /.well-known/agent-card.json</a:t>
            </a:r>
          </a:p>
        </p:txBody>
      </p:sp>
      <p:sp>
        <p:nvSpPr>
          <p:cNvPr id="5" name="TextBox 4">
            <a:extLst>
              <a:ext uri="{FF2B5EF4-FFF2-40B4-BE49-F238E27FC236}">
                <a16:creationId xmlns:a16="http://schemas.microsoft.com/office/drawing/2014/main" id="{9F657DF8-3E9E-2CC8-7FEB-68B2268BB2C1}"/>
              </a:ext>
            </a:extLst>
          </p:cNvPr>
          <p:cNvSpPr txBox="1"/>
          <p:nvPr/>
        </p:nvSpPr>
        <p:spPr>
          <a:xfrm>
            <a:off x="952500" y="3208883"/>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1. </a:t>
            </a:r>
            <a:r>
              <a:rPr lang="en-US" b="1">
                <a:solidFill>
                  <a:srgbClr val="173F35"/>
                </a:solidFill>
                <a:latin typeface="Segoe UI" panose="020B0502040204020203" pitchFamily="34" charset="0"/>
              </a:rPr>
              <a:t>Identity</a:t>
            </a:r>
            <a:r>
              <a:rPr lang="en-US">
                <a:solidFill>
                  <a:srgbClr val="173F35"/>
                </a:solidFill>
                <a:latin typeface="Segoe UI" panose="020B0502040204020203" pitchFamily="34" charset="0"/>
              </a:rPr>
              <a:t>: Which agent is this?</a:t>
            </a:r>
          </a:p>
        </p:txBody>
      </p:sp>
      <p:sp>
        <p:nvSpPr>
          <p:cNvPr id="6" name="TextBox 5">
            <a:extLst>
              <a:ext uri="{FF2B5EF4-FFF2-40B4-BE49-F238E27FC236}">
                <a16:creationId xmlns:a16="http://schemas.microsoft.com/office/drawing/2014/main" id="{E0A6749E-9FEC-98FF-4116-39DCA459C3BB}"/>
              </a:ext>
            </a:extLst>
          </p:cNvPr>
          <p:cNvSpPr txBox="1"/>
          <p:nvPr/>
        </p:nvSpPr>
        <p:spPr>
          <a:xfrm>
            <a:off x="952500" y="3680520"/>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2. </a:t>
            </a:r>
            <a:r>
              <a:rPr lang="en-US" b="1">
                <a:solidFill>
                  <a:srgbClr val="173F35"/>
                </a:solidFill>
                <a:latin typeface="Segoe UI" panose="020B0502040204020203" pitchFamily="34" charset="0"/>
              </a:rPr>
              <a:t>Skills</a:t>
            </a:r>
            <a:r>
              <a:rPr lang="en-US">
                <a:solidFill>
                  <a:srgbClr val="173F35"/>
                </a:solidFill>
                <a:latin typeface="Segoe UI" panose="020B0502040204020203" pitchFamily="34" charset="0"/>
              </a:rPr>
              <a:t>: Does it offer venue selection?</a:t>
            </a:r>
          </a:p>
        </p:txBody>
      </p:sp>
      <p:sp>
        <p:nvSpPr>
          <p:cNvPr id="7" name="TextBox 6">
            <a:extLst>
              <a:ext uri="{FF2B5EF4-FFF2-40B4-BE49-F238E27FC236}">
                <a16:creationId xmlns:a16="http://schemas.microsoft.com/office/drawing/2014/main" id="{EDC50220-D447-5537-7E1B-36DF69631C54}"/>
              </a:ext>
            </a:extLst>
          </p:cNvPr>
          <p:cNvSpPr txBox="1"/>
          <p:nvPr/>
        </p:nvSpPr>
        <p:spPr>
          <a:xfrm>
            <a:off x="952500" y="4152156"/>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3. </a:t>
            </a:r>
            <a:r>
              <a:rPr lang="en-US" b="1">
                <a:solidFill>
                  <a:srgbClr val="173F35"/>
                </a:solidFill>
                <a:latin typeface="Segoe UI" panose="020B0502040204020203" pitchFamily="34" charset="0"/>
              </a:rPr>
              <a:t>Interface</a:t>
            </a:r>
            <a:r>
              <a:rPr lang="en-US">
                <a:solidFill>
                  <a:srgbClr val="173F35"/>
                </a:solidFill>
                <a:latin typeface="Segoe UI" panose="020B0502040204020203" pitchFamily="34" charset="0"/>
              </a:rPr>
              <a:t>: Where and how should we send the task?</a:t>
            </a:r>
          </a:p>
        </p:txBody>
      </p:sp>
      <p:sp>
        <p:nvSpPr>
          <p:cNvPr id="8" name="TextBox 7">
            <a:extLst>
              <a:ext uri="{FF2B5EF4-FFF2-40B4-BE49-F238E27FC236}">
                <a16:creationId xmlns:a16="http://schemas.microsoft.com/office/drawing/2014/main" id="{2551652C-34B8-A6F4-4A13-8EEB304D5D5D}"/>
              </a:ext>
            </a:extLst>
          </p:cNvPr>
          <p:cNvSpPr txBox="1"/>
          <p:nvPr/>
        </p:nvSpPr>
        <p:spPr>
          <a:xfrm>
            <a:off x="647700" y="4795242"/>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Known-address discovery. This demo does not use a search engine or agent registry.</a:t>
            </a:r>
          </a:p>
        </p:txBody>
      </p:sp>
    </p:spTree>
    <p:extLst>
      <p:ext uri="{BB962C8B-B14F-4D97-AF65-F5344CB8AC3E}">
        <p14:creationId xmlns:p14="http://schemas.microsoft.com/office/powerpoint/2010/main" val="2099253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C332AD-8944-F445-80F8-DC466EF836BA}"/>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A task has a continuing identity</a:t>
            </a:r>
          </a:p>
        </p:txBody>
      </p:sp>
      <p:graphicFrame>
        <p:nvGraphicFramePr>
          <p:cNvPr id="3" name="Table 2">
            <a:extLst>
              <a:ext uri="{FF2B5EF4-FFF2-40B4-BE49-F238E27FC236}">
                <a16:creationId xmlns:a16="http://schemas.microsoft.com/office/drawing/2014/main" id="{D857FFE1-D42A-A216-5A48-14F29E0A1F97}"/>
              </a:ext>
            </a:extLst>
          </p:cNvPr>
          <p:cNvGraphicFramePr>
            <a:graphicFrameLocks noGrp="1"/>
          </p:cNvGraphicFramePr>
          <p:nvPr>
            <p:extLst>
              <p:ext uri="{D42A27DB-BD31-4B8C-83A1-F6EECF244321}">
                <p14:modId xmlns:p14="http://schemas.microsoft.com/office/powerpoint/2010/main" val="1181480159"/>
              </p:ext>
            </p:extLst>
          </p:nvPr>
        </p:nvGraphicFramePr>
        <p:xfrm>
          <a:off x="647700" y="1374428"/>
          <a:ext cx="10896600" cy="3703737"/>
        </p:xfrm>
        <a:graphic>
          <a:graphicData uri="http://schemas.openxmlformats.org/drawingml/2006/table">
            <a:tbl>
              <a:tblPr firstRow="1" bandRow="1">
                <a:tableStyleId>{5C22544A-7EE6-4342-B048-85BDC9FD1C3A}</a:tableStyleId>
              </a:tblPr>
              <a:tblGrid>
                <a:gridCol w="3129409">
                  <a:extLst>
                    <a:ext uri="{9D8B030D-6E8A-4147-A177-3AD203B41FA5}">
                      <a16:colId xmlns:a16="http://schemas.microsoft.com/office/drawing/2014/main" val="3976238791"/>
                    </a:ext>
                  </a:extLst>
                </a:gridCol>
                <a:gridCol w="7767191">
                  <a:extLst>
                    <a:ext uri="{9D8B030D-6E8A-4147-A177-3AD203B41FA5}">
                      <a16:colId xmlns:a16="http://schemas.microsoft.com/office/drawing/2014/main" val="1151530029"/>
                    </a:ext>
                  </a:extLst>
                </a:gridCol>
              </a:tblGrid>
              <a:tr h="577304">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Exchange</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What happens</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extLst>
                  <a:ext uri="{0D108BD9-81ED-4DB2-BD59-A6C34878D82A}">
                    <a16:rowId xmlns:a16="http://schemas.microsoft.com/office/drawing/2014/main" val="3999602985"/>
                  </a:ext>
                </a:extLst>
              </a:tr>
              <a:tr h="624334">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SendMessage</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The coordinator delegates a structured workshop brief.</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2108433658"/>
                  </a:ext>
                </a:extLst>
              </a:tr>
              <a:tr h="624334">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GetTask</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It follows progress using the returned task ID.</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53574461"/>
                  </a:ext>
                </a:extLst>
              </a:tr>
              <a:tr h="624334">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input-required</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The specialist asks for a missing budget or priority.</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3342059256"/>
                  </a:ext>
                </a:extLst>
              </a:tr>
              <a:tr h="624334">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SendMessage</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The reply continues the same task and context.</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615459729"/>
                  </a:ext>
                </a:extLst>
              </a:tr>
              <a:tr h="624334">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completed + artifact</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The specialist returns a recommendation for review.</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1711592954"/>
                  </a:ext>
                </a:extLst>
              </a:tr>
            </a:tbl>
          </a:graphicData>
        </a:graphic>
      </p:graphicFrame>
    </p:spTree>
    <p:extLst>
      <p:ext uri="{BB962C8B-B14F-4D97-AF65-F5344CB8AC3E}">
        <p14:creationId xmlns:p14="http://schemas.microsoft.com/office/powerpoint/2010/main" val="1367957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324245-549A-5BFF-7ED1-A6ABE15E0268}"/>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Three valid venues, different compromises</a:t>
            </a:r>
          </a:p>
        </p:txBody>
      </p:sp>
      <p:sp>
        <p:nvSpPr>
          <p:cNvPr id="3" name="TextBox 2">
            <a:extLst>
              <a:ext uri="{FF2B5EF4-FFF2-40B4-BE49-F238E27FC236}">
                <a16:creationId xmlns:a16="http://schemas.microsoft.com/office/drawing/2014/main" id="{2DCB70CA-FE50-91DC-6744-98327CBE0173}"/>
              </a:ext>
            </a:extLst>
          </p:cNvPr>
          <p:cNvSpPr txBox="1"/>
          <p:nvPr/>
        </p:nvSpPr>
        <p:spPr>
          <a:xfrm>
            <a:off x="647700" y="1374428"/>
            <a:ext cx="10896600" cy="345380"/>
          </a:xfrm>
          <a:prstGeom prst="rect">
            <a:avLst/>
          </a:prstGeom>
          <a:noFill/>
        </p:spPr>
        <p:txBody>
          <a:bodyPr vert="horz" wrap="square" lIns="0" tIns="0" rIns="0" bIns="0" rtlCol="0" anchor="t">
            <a:noAutofit/>
          </a:bodyPr>
          <a:lstStyle/>
          <a:p>
            <a:pPr>
              <a:lnSpc>
                <a:spcPts val="2220"/>
              </a:lnSpc>
            </a:pPr>
            <a:r>
              <a:rPr lang="en-US" sz="1500">
                <a:solidFill>
                  <a:srgbClr val="516358"/>
                </a:solidFill>
                <a:latin typeface="Segoe UI" panose="020B0502040204020203" pitchFamily="34" charset="0"/>
              </a:rPr>
              <a:t>30 attendees · Projector · Accessible · Preferred AED 1,400 · Maximum AED 1,600</a:t>
            </a:r>
          </a:p>
        </p:txBody>
      </p:sp>
      <p:sp>
        <p:nvSpPr>
          <p:cNvPr id="4" name="TextBox 3">
            <a:extLst>
              <a:ext uri="{FF2B5EF4-FFF2-40B4-BE49-F238E27FC236}">
                <a16:creationId xmlns:a16="http://schemas.microsoft.com/office/drawing/2014/main" id="{D9DB9CBC-7FA0-6850-0F3B-33078691CF62}"/>
              </a:ext>
            </a:extLst>
          </p:cNvPr>
          <p:cNvSpPr txBox="1"/>
          <p:nvPr/>
        </p:nvSpPr>
        <p:spPr>
          <a:xfrm>
            <a:off x="647700" y="4568577"/>
            <a:ext cx="10896600" cy="477838"/>
          </a:xfrm>
          <a:prstGeom prst="rect">
            <a:avLst/>
          </a:prstGeom>
          <a:noFill/>
        </p:spPr>
        <p:txBody>
          <a:bodyPr vert="horz" wrap="square" lIns="0" tIns="0" rIns="0" bIns="0" rtlCol="0" anchor="t">
            <a:noAutofit/>
          </a:bodyPr>
          <a:lstStyle/>
          <a:p>
            <a:pPr>
              <a:lnSpc>
                <a:spcPts val="3263"/>
              </a:lnSpc>
            </a:pPr>
            <a:r>
              <a:rPr lang="en-US" sz="2250">
                <a:solidFill>
                  <a:srgbClr val="173F35"/>
                </a:solidFill>
                <a:latin typeface="Segoe UI" panose="020B0502040204020203" pitchFamily="34" charset="0"/>
              </a:rPr>
              <a:t>“Suitable” depends on what the workshop needs.</a:t>
            </a:r>
          </a:p>
        </p:txBody>
      </p:sp>
      <p:sp>
        <p:nvSpPr>
          <p:cNvPr id="5" name="TextBox 4">
            <a:extLst>
              <a:ext uri="{FF2B5EF4-FFF2-40B4-BE49-F238E27FC236}">
                <a16:creationId xmlns:a16="http://schemas.microsoft.com/office/drawing/2014/main" id="{1415712E-B90B-94FA-FDF1-CD142F3547F3}"/>
              </a:ext>
            </a:extLst>
          </p:cNvPr>
          <p:cNvSpPr txBox="1"/>
          <p:nvPr/>
        </p:nvSpPr>
        <p:spPr>
          <a:xfrm>
            <a:off x="647700" y="5344864"/>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Invented catalogue facts. Three of six venues meet this brief.</a:t>
            </a:r>
          </a:p>
        </p:txBody>
      </p:sp>
      <p:graphicFrame>
        <p:nvGraphicFramePr>
          <p:cNvPr id="6" name="Table 5">
            <a:extLst>
              <a:ext uri="{FF2B5EF4-FFF2-40B4-BE49-F238E27FC236}">
                <a16:creationId xmlns:a16="http://schemas.microsoft.com/office/drawing/2014/main" id="{0216C77B-4D65-02AD-7E95-27DBB5BADFF7}"/>
              </a:ext>
            </a:extLst>
          </p:cNvPr>
          <p:cNvGraphicFramePr>
            <a:graphicFrameLocks noGrp="1"/>
          </p:cNvGraphicFramePr>
          <p:nvPr>
            <p:extLst>
              <p:ext uri="{D42A27DB-BD31-4B8C-83A1-F6EECF244321}">
                <p14:modId xmlns:p14="http://schemas.microsoft.com/office/powerpoint/2010/main" val="2606472224"/>
              </p:ext>
            </p:extLst>
          </p:nvPr>
        </p:nvGraphicFramePr>
        <p:xfrm>
          <a:off x="647700" y="1884908"/>
          <a:ext cx="10896600" cy="2455069"/>
        </p:xfrm>
        <a:graphic>
          <a:graphicData uri="http://schemas.openxmlformats.org/drawingml/2006/table">
            <a:tbl>
              <a:tblPr firstRow="1" bandRow="1">
                <a:tableStyleId>{5C22544A-7EE6-4342-B048-85BDC9FD1C3A}</a:tableStyleId>
              </a:tblPr>
              <a:tblGrid>
                <a:gridCol w="2824907">
                  <a:extLst>
                    <a:ext uri="{9D8B030D-6E8A-4147-A177-3AD203B41FA5}">
                      <a16:colId xmlns:a16="http://schemas.microsoft.com/office/drawing/2014/main" val="694328393"/>
                    </a:ext>
                  </a:extLst>
                </a:gridCol>
                <a:gridCol w="2582615">
                  <a:extLst>
                    <a:ext uri="{9D8B030D-6E8A-4147-A177-3AD203B41FA5}">
                      <a16:colId xmlns:a16="http://schemas.microsoft.com/office/drawing/2014/main" val="769194317"/>
                    </a:ext>
                  </a:extLst>
                </a:gridCol>
                <a:gridCol w="2297311">
                  <a:extLst>
                    <a:ext uri="{9D8B030D-6E8A-4147-A177-3AD203B41FA5}">
                      <a16:colId xmlns:a16="http://schemas.microsoft.com/office/drawing/2014/main" val="411332176"/>
                    </a:ext>
                  </a:extLst>
                </a:gridCol>
                <a:gridCol w="3191768">
                  <a:extLst>
                    <a:ext uri="{9D8B030D-6E8A-4147-A177-3AD203B41FA5}">
                      <a16:colId xmlns:a16="http://schemas.microsoft.com/office/drawing/2014/main" val="2950702750"/>
                    </a:ext>
                  </a:extLst>
                </a:gridCol>
              </a:tblGrid>
              <a:tr h="577304">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Venue</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4-hour price</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Noise</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Breakout rooms</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extLst>
                  <a:ext uri="{0D108BD9-81ED-4DB2-BD59-A6C34878D82A}">
                    <a16:rowId xmlns:a16="http://schemas.microsoft.com/office/drawing/2014/main" val="562319154"/>
                  </a:ext>
                </a:extLst>
              </a:tr>
              <a:tr h="624334">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Canal Loft</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AED 1,200</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Moderate</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0</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3975049649"/>
                  </a:ext>
                </a:extLst>
              </a:tr>
              <a:tr h="624334">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Cedar Room</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AED 1,350</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Low</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0</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181723588"/>
                  </a:ext>
                </a:extLst>
              </a:tr>
              <a:tr h="624334">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Harbor Hall</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AED 1,550</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Moderate</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2</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3903131298"/>
                  </a:ext>
                </a:extLst>
              </a:tr>
            </a:tbl>
          </a:graphicData>
        </a:graphic>
      </p:graphicFrame>
    </p:spTree>
    <p:extLst>
      <p:ext uri="{BB962C8B-B14F-4D97-AF65-F5344CB8AC3E}">
        <p14:creationId xmlns:p14="http://schemas.microsoft.com/office/powerpoint/2010/main" val="280467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9AFD6F-506C-3C6E-DE6B-7D3FF2781889}"/>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Clarification changes the decision</a:t>
            </a:r>
          </a:p>
        </p:txBody>
      </p:sp>
      <p:sp>
        <p:nvSpPr>
          <p:cNvPr id="3" name="TextBox 2">
            <a:extLst>
              <a:ext uri="{FF2B5EF4-FFF2-40B4-BE49-F238E27FC236}">
                <a16:creationId xmlns:a16="http://schemas.microsoft.com/office/drawing/2014/main" id="{45D972F5-2913-0F64-BA6D-416470F2D648}"/>
              </a:ext>
            </a:extLst>
          </p:cNvPr>
          <p:cNvSpPr txBox="1"/>
          <p:nvPr/>
        </p:nvSpPr>
        <p:spPr>
          <a:xfrm>
            <a:off x="647700" y="1374428"/>
            <a:ext cx="10896600" cy="1002605"/>
          </a:xfrm>
          <a:prstGeom prst="rect">
            <a:avLst/>
          </a:prstGeom>
          <a:noFill/>
        </p:spPr>
        <p:txBody>
          <a:bodyPr vert="horz" wrap="square" lIns="0" tIns="0" rIns="0" bIns="0" rtlCol="0" anchor="t">
            <a:noAutofit/>
          </a:bodyPr>
          <a:lstStyle/>
          <a:p>
            <a:pPr>
              <a:lnSpc>
                <a:spcPts val="3697"/>
              </a:lnSpc>
            </a:pPr>
            <a:r>
              <a:rPr lang="en-US" sz="2550">
                <a:solidFill>
                  <a:srgbClr val="173F35"/>
                </a:solidFill>
                <a:latin typeface="Segoe UI" panose="020B0502040204020203" pitchFamily="34" charset="0"/>
              </a:rPr>
              <a:t>“What matters most: a quieter room,</a:t>
            </a:r>
          </a:p>
          <a:p>
            <a:pPr>
              <a:lnSpc>
                <a:spcPts val="3697"/>
              </a:lnSpc>
            </a:pPr>
            <a:r>
              <a:rPr lang="en-US" sz="2550">
                <a:solidFill>
                  <a:srgbClr val="173F35"/>
                </a:solidFill>
                <a:latin typeface="Segoe UI" panose="020B0502040204020203" pitchFamily="34" charset="0"/>
              </a:rPr>
              <a:t>separate breakout rooms, or keeping costs down?”</a:t>
            </a:r>
          </a:p>
        </p:txBody>
      </p:sp>
      <p:sp>
        <p:nvSpPr>
          <p:cNvPr id="4" name="TextBox 3">
            <a:extLst>
              <a:ext uri="{FF2B5EF4-FFF2-40B4-BE49-F238E27FC236}">
                <a16:creationId xmlns:a16="http://schemas.microsoft.com/office/drawing/2014/main" id="{E227210C-BB41-49E9-BA6D-99461ABDFDB7}"/>
              </a:ext>
            </a:extLst>
          </p:cNvPr>
          <p:cNvSpPr txBox="1"/>
          <p:nvPr/>
        </p:nvSpPr>
        <p:spPr>
          <a:xfrm>
            <a:off x="647700" y="2675483"/>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Choose breakout rooms</a:t>
            </a:r>
          </a:p>
        </p:txBody>
      </p:sp>
      <p:sp>
        <p:nvSpPr>
          <p:cNvPr id="5" name="TextBox 4">
            <a:extLst>
              <a:ext uri="{FF2B5EF4-FFF2-40B4-BE49-F238E27FC236}">
                <a16:creationId xmlns:a16="http://schemas.microsoft.com/office/drawing/2014/main" id="{43E77772-6010-D205-0073-12463D5D963D}"/>
              </a:ext>
            </a:extLst>
          </p:cNvPr>
          <p:cNvSpPr txBox="1"/>
          <p:nvPr/>
        </p:nvSpPr>
        <p:spPr>
          <a:xfrm>
            <a:off x="647700" y="3130302"/>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Harbor Hall offers two rooms for group work, with a higher price and moderate noise.</a:t>
            </a:r>
          </a:p>
        </p:txBody>
      </p:sp>
      <p:sp>
        <p:nvSpPr>
          <p:cNvPr id="6" name="TextBox 5">
            <a:extLst>
              <a:ext uri="{FF2B5EF4-FFF2-40B4-BE49-F238E27FC236}">
                <a16:creationId xmlns:a16="http://schemas.microsoft.com/office/drawing/2014/main" id="{0898BA40-EC67-FDBE-1534-2C8D2F341DCE}"/>
              </a:ext>
            </a:extLst>
          </p:cNvPr>
          <p:cNvSpPr txBox="1"/>
          <p:nvPr/>
        </p:nvSpPr>
        <p:spPr>
          <a:xfrm>
            <a:off x="6381750" y="2675483"/>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Choose a quieter room</a:t>
            </a:r>
          </a:p>
        </p:txBody>
      </p:sp>
      <p:sp>
        <p:nvSpPr>
          <p:cNvPr id="7" name="TextBox 6">
            <a:extLst>
              <a:ext uri="{FF2B5EF4-FFF2-40B4-BE49-F238E27FC236}">
                <a16:creationId xmlns:a16="http://schemas.microsoft.com/office/drawing/2014/main" id="{A5E1D393-AECA-73F6-59E9-235180E8AFCC}"/>
              </a:ext>
            </a:extLst>
          </p:cNvPr>
          <p:cNvSpPr txBox="1"/>
          <p:nvPr/>
        </p:nvSpPr>
        <p:spPr>
          <a:xfrm>
            <a:off x="6381750" y="3130302"/>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Cedar Room offers a quieter setting below the preferred budget, without separate rooms.</a:t>
            </a:r>
          </a:p>
        </p:txBody>
      </p:sp>
      <p:sp>
        <p:nvSpPr>
          <p:cNvPr id="8" name="TextBox 7">
            <a:extLst>
              <a:ext uri="{FF2B5EF4-FFF2-40B4-BE49-F238E27FC236}">
                <a16:creationId xmlns:a16="http://schemas.microsoft.com/office/drawing/2014/main" id="{EF64B88B-CFA9-E550-5340-2E42FD27361E}"/>
              </a:ext>
            </a:extLst>
          </p:cNvPr>
          <p:cNvSpPr txBox="1"/>
          <p:nvPr/>
        </p:nvSpPr>
        <p:spPr>
          <a:xfrm>
            <a:off x="647700" y="4395043"/>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Illustrative wording. Live questions and explanations can vary.</a:t>
            </a:r>
          </a:p>
        </p:txBody>
      </p:sp>
    </p:spTree>
    <p:extLst>
      <p:ext uri="{BB962C8B-B14F-4D97-AF65-F5344CB8AC3E}">
        <p14:creationId xmlns:p14="http://schemas.microsoft.com/office/powerpoint/2010/main" val="886393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BBAF12-14C6-7984-600D-349347315C79}"/>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Rehearsal and Live AI</a:t>
            </a:r>
          </a:p>
        </p:txBody>
      </p:sp>
      <p:sp>
        <p:nvSpPr>
          <p:cNvPr id="3" name="TextBox 2">
            <a:extLst>
              <a:ext uri="{FF2B5EF4-FFF2-40B4-BE49-F238E27FC236}">
                <a16:creationId xmlns:a16="http://schemas.microsoft.com/office/drawing/2014/main" id="{3D1862C5-17A3-149C-A9AA-7E8B7288E93F}"/>
              </a:ext>
            </a:extLst>
          </p:cNvPr>
          <p:cNvSpPr txBox="1"/>
          <p:nvPr/>
        </p:nvSpPr>
        <p:spPr>
          <a:xfrm>
            <a:off x="647700" y="4758630"/>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The same recommendation can be correct in both modes. Matching outputs alone do not prove model autonomy.</a:t>
            </a:r>
          </a:p>
        </p:txBody>
      </p:sp>
      <p:graphicFrame>
        <p:nvGraphicFramePr>
          <p:cNvPr id="4" name="Table 3">
            <a:extLst>
              <a:ext uri="{FF2B5EF4-FFF2-40B4-BE49-F238E27FC236}">
                <a16:creationId xmlns:a16="http://schemas.microsoft.com/office/drawing/2014/main" id="{763D4A46-E6ED-6154-FAD2-96A3FFF74482}"/>
              </a:ext>
            </a:extLst>
          </p:cNvPr>
          <p:cNvGraphicFramePr>
            <a:graphicFrameLocks noGrp="1"/>
          </p:cNvGraphicFramePr>
          <p:nvPr>
            <p:extLst>
              <p:ext uri="{D42A27DB-BD31-4B8C-83A1-F6EECF244321}">
                <p14:modId xmlns:p14="http://schemas.microsoft.com/office/powerpoint/2010/main" val="439692987"/>
              </p:ext>
            </p:extLst>
          </p:nvPr>
        </p:nvGraphicFramePr>
        <p:xfrm>
          <a:off x="647700" y="1374428"/>
          <a:ext cx="10896600" cy="3079403"/>
        </p:xfrm>
        <a:graphic>
          <a:graphicData uri="http://schemas.openxmlformats.org/drawingml/2006/table">
            <a:tbl>
              <a:tblPr firstRow="1" bandRow="1">
                <a:tableStyleId>{5C22544A-7EE6-4342-B048-85BDC9FD1C3A}</a:tableStyleId>
              </a:tblPr>
              <a:tblGrid>
                <a:gridCol w="1873002">
                  <a:extLst>
                    <a:ext uri="{9D8B030D-6E8A-4147-A177-3AD203B41FA5}">
                      <a16:colId xmlns:a16="http://schemas.microsoft.com/office/drawing/2014/main" val="3391332839"/>
                    </a:ext>
                  </a:extLst>
                </a:gridCol>
                <a:gridCol w="3904952">
                  <a:extLst>
                    <a:ext uri="{9D8B030D-6E8A-4147-A177-3AD203B41FA5}">
                      <a16:colId xmlns:a16="http://schemas.microsoft.com/office/drawing/2014/main" val="3585281794"/>
                    </a:ext>
                  </a:extLst>
                </a:gridCol>
                <a:gridCol w="5118646">
                  <a:extLst>
                    <a:ext uri="{9D8B030D-6E8A-4147-A177-3AD203B41FA5}">
                      <a16:colId xmlns:a16="http://schemas.microsoft.com/office/drawing/2014/main" val="1322092279"/>
                    </a:ext>
                  </a:extLst>
                </a:gridCol>
              </a:tblGrid>
              <a:tr h="577304">
                <a:tc>
                  <a:txBody>
                    <a:bodyPr/>
                    <a:lstStyle/>
                    <a:p>
                      <a:pPr>
                        <a:lnSpc>
                          <a:spcPts val="2109"/>
                        </a:lnSpc>
                        <a:spcBef>
                          <a:spcPts val="0"/>
                        </a:spcBef>
                        <a:spcAft>
                          <a:spcPts val="0"/>
                        </a:spcAft>
                      </a:pPr>
                      <a:endParaRPr lang="en-US" sz="1425" b="1">
                        <a:solidFill>
                          <a:srgbClr val="52684F"/>
                        </a:solidFill>
                        <a:latin typeface="Segoe UI" panose="020B0502040204020203" pitchFamily="34" charset="0"/>
                      </a:endParaRP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Rehearsal</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tc>
                  <a:txBody>
                    <a:bodyPr/>
                    <a:lstStyle/>
                    <a:p>
                      <a:pPr>
                        <a:lnSpc>
                          <a:spcPts val="2109"/>
                        </a:lnSpc>
                        <a:spcBef>
                          <a:spcPts val="0"/>
                        </a:spcBef>
                        <a:spcAft>
                          <a:spcPts val="0"/>
                        </a:spcAft>
                      </a:pPr>
                      <a:r>
                        <a:rPr lang="en-US" sz="1425" b="1">
                          <a:solidFill>
                            <a:srgbClr val="52684F"/>
                          </a:solidFill>
                          <a:latin typeface="Segoe UI" panose="020B0502040204020203" pitchFamily="34" charset="0"/>
                        </a:rPr>
                        <a:t>Live AI</a:t>
                      </a:r>
                    </a:p>
                  </a:txBody>
                  <a:tcPr marL="101600" marR="101600" marT="101600" marB="101600">
                    <a:lnL w="12700" cmpd="sng">
                      <a:solidFill>
                        <a:schemeClr val="lt1"/>
                      </a:solidFill>
                    </a:lnL>
                    <a:lnR w="12700" cmpd="sng">
                      <a:solidFill>
                        <a:schemeClr val="lt1"/>
                      </a:solidFill>
                    </a:lnR>
                    <a:lnT w="12700" cmpd="sng">
                      <a:solidFill>
                        <a:schemeClr val="lt1"/>
                      </a:solidFill>
                    </a:lnT>
                    <a:lnB w="7620" cmpd="sng">
                      <a:solidFill>
                        <a:srgbClr val="CBD2C4"/>
                      </a:solidFill>
                    </a:lnB>
                    <a:solidFill>
                      <a:srgbClr val="FBFAF4"/>
                    </a:solidFill>
                  </a:tcPr>
                </a:tc>
                <a:extLst>
                  <a:ext uri="{0D108BD9-81ED-4DB2-BD59-A6C34878D82A}">
                    <a16:rowId xmlns:a16="http://schemas.microsoft.com/office/drawing/2014/main" val="3763670845"/>
                  </a:ext>
                </a:extLst>
              </a:tr>
              <a:tr h="624334">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Decisions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Explicit rules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Model calls with separate agent prompts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1192393803"/>
                  </a:ext>
                </a:extLst>
              </a:tr>
              <a:tr h="624334">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A2A transport</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Real local HTTP exchanges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Real local HTTP exchanges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3628264228"/>
                  </a:ext>
                </a:extLst>
              </a:tr>
              <a:tr h="624334">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Preferences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Ranks by selected priority</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Also interprets free-text preferences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2719272060"/>
                  </a:ext>
                </a:extLst>
              </a:tr>
              <a:tr h="624334">
                <a:tc>
                  <a:txBody>
                    <a:bodyPr/>
                    <a:lstStyle/>
                    <a:p>
                      <a:pPr>
                        <a:lnSpc>
                          <a:spcPts val="2442"/>
                        </a:lnSpc>
                        <a:spcBef>
                          <a:spcPts val="0"/>
                        </a:spcBef>
                        <a:spcAft>
                          <a:spcPts val="0"/>
                        </a:spcAft>
                      </a:pPr>
                      <a:r>
                        <a:rPr lang="en-US" sz="1650" b="1">
                          <a:solidFill>
                            <a:srgbClr val="173F35"/>
                          </a:solidFill>
                          <a:latin typeface="Segoe UI" panose="020B0502040204020203" pitchFamily="34" charset="0"/>
                        </a:rPr>
                        <a:t>Use in class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Repeatable protocol walkthrough</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tc>
                  <a:txBody>
                    <a:bodyPr/>
                    <a:lstStyle/>
                    <a:p>
                      <a:pPr>
                        <a:lnSpc>
                          <a:spcPts val="2442"/>
                        </a:lnSpc>
                        <a:spcBef>
                          <a:spcPts val="0"/>
                        </a:spcBef>
                        <a:spcAft>
                          <a:spcPts val="0"/>
                        </a:spcAft>
                      </a:pPr>
                      <a:r>
                        <a:rPr lang="en-US" sz="1650" b="0">
                          <a:solidFill>
                            <a:srgbClr val="173F35"/>
                          </a:solidFill>
                          <a:latin typeface="Segoe UI" panose="020B0502040204020203" pitchFamily="34" charset="0"/>
                        </a:rPr>
                        <a:t>Observe decisions and evaluate explanations</a:t>
                      </a:r>
                    </a:p>
                  </a:txBody>
                  <a:tcPr marL="101600" marR="101600" marT="101600" marB="101600">
                    <a:lnL w="12700" cmpd="sng">
                      <a:solidFill>
                        <a:schemeClr val="lt1"/>
                      </a:solidFill>
                    </a:lnL>
                    <a:lnR w="12700" cmpd="sng">
                      <a:solidFill>
                        <a:schemeClr val="lt1"/>
                      </a:solidFill>
                    </a:lnR>
                    <a:lnT w="7620" cmpd="sng">
                      <a:solidFill>
                        <a:srgbClr val="CBD2C4"/>
                      </a:solidFill>
                    </a:lnT>
                    <a:lnB w="7620" cmpd="sng">
                      <a:solidFill>
                        <a:srgbClr val="CBD2C4"/>
                      </a:solidFill>
                    </a:lnB>
                    <a:solidFill>
                      <a:srgbClr val="FBFAF4"/>
                    </a:solidFill>
                  </a:tcPr>
                </a:tc>
                <a:extLst>
                  <a:ext uri="{0D108BD9-81ED-4DB2-BD59-A6C34878D82A}">
                    <a16:rowId xmlns:a16="http://schemas.microsoft.com/office/drawing/2014/main" val="4063464052"/>
                  </a:ext>
                </a:extLst>
              </a:tr>
            </a:tbl>
          </a:graphicData>
        </a:graphic>
      </p:graphicFrame>
    </p:spTree>
    <p:extLst>
      <p:ext uri="{BB962C8B-B14F-4D97-AF65-F5344CB8AC3E}">
        <p14:creationId xmlns:p14="http://schemas.microsoft.com/office/powerpoint/2010/main" val="13243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D67CD5-311B-E8AE-A2B5-95941F44ECA9}"/>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What we observed with OpenAI</a:t>
            </a:r>
          </a:p>
        </p:txBody>
      </p:sp>
      <p:sp>
        <p:nvSpPr>
          <p:cNvPr id="3" name="TextBox 2">
            <a:extLst>
              <a:ext uri="{FF2B5EF4-FFF2-40B4-BE49-F238E27FC236}">
                <a16:creationId xmlns:a16="http://schemas.microsoft.com/office/drawing/2014/main" id="{73C61AC3-EF4F-1200-83D1-D6332DD83295}"/>
              </a:ext>
            </a:extLst>
          </p:cNvPr>
          <p:cNvSpPr txBox="1"/>
          <p:nvPr/>
        </p:nvSpPr>
        <p:spPr>
          <a:xfrm>
            <a:off x="647700" y="1612553"/>
            <a:ext cx="5162550" cy="292100"/>
          </a:xfrm>
          <a:prstGeom prst="rect">
            <a:avLst/>
          </a:prstGeom>
          <a:noFill/>
        </p:spPr>
        <p:txBody>
          <a:bodyPr vert="horz" wrap="square" lIns="0" tIns="0" rIns="0" bIns="0" rtlCol="0" anchor="t">
            <a:noAutofit/>
          </a:bodyPr>
          <a:lstStyle/>
          <a:p>
            <a:pPr>
              <a:lnSpc>
                <a:spcPts val="1800"/>
              </a:lnSpc>
            </a:pPr>
            <a:r>
              <a:rPr lang="en-US" sz="1125" b="1">
                <a:solidFill>
                  <a:srgbClr val="173F35"/>
                </a:solidFill>
                <a:latin typeface="Segoe UI" panose="020B0502040204020203" pitchFamily="34" charset="0"/>
              </a:rPr>
              <a:t>SEPARATE BREAKOUT ROOMS</a:t>
            </a:r>
          </a:p>
        </p:txBody>
      </p:sp>
      <p:sp>
        <p:nvSpPr>
          <p:cNvPr id="4" name="TextBox 3">
            <a:extLst>
              <a:ext uri="{FF2B5EF4-FFF2-40B4-BE49-F238E27FC236}">
                <a16:creationId xmlns:a16="http://schemas.microsoft.com/office/drawing/2014/main" id="{B9C82EC7-3F76-9059-07BB-5B949913F371}"/>
              </a:ext>
            </a:extLst>
          </p:cNvPr>
          <p:cNvSpPr txBox="1"/>
          <p:nvPr/>
        </p:nvSpPr>
        <p:spPr>
          <a:xfrm>
            <a:off x="647700" y="2126903"/>
            <a:ext cx="5162550" cy="468313"/>
          </a:xfrm>
          <a:prstGeom prst="rect">
            <a:avLst/>
          </a:prstGeom>
          <a:noFill/>
        </p:spPr>
        <p:txBody>
          <a:bodyPr vert="horz" wrap="square" lIns="0" tIns="0" rIns="0" bIns="0" rtlCol="0" anchor="t">
            <a:noAutofit/>
          </a:bodyPr>
          <a:lstStyle/>
          <a:p>
            <a:pPr>
              <a:lnSpc>
                <a:spcPts val="3188"/>
              </a:lnSpc>
            </a:pPr>
            <a:r>
              <a:rPr lang="en-US" sz="2550" b="1">
                <a:solidFill>
                  <a:srgbClr val="173F35"/>
                </a:solidFill>
                <a:latin typeface="Segoe UI" panose="020B0502040204020203" pitchFamily="34" charset="0"/>
              </a:rPr>
              <a:t>Harbor Hall</a:t>
            </a:r>
          </a:p>
        </p:txBody>
      </p:sp>
      <p:sp>
        <p:nvSpPr>
          <p:cNvPr id="5" name="TextBox 4">
            <a:extLst>
              <a:ext uri="{FF2B5EF4-FFF2-40B4-BE49-F238E27FC236}">
                <a16:creationId xmlns:a16="http://schemas.microsoft.com/office/drawing/2014/main" id="{6003C5DD-3B0C-DB76-2954-4C1581B5D71D}"/>
              </a:ext>
            </a:extLst>
          </p:cNvPr>
          <p:cNvSpPr txBox="1"/>
          <p:nvPr/>
        </p:nvSpPr>
        <p:spPr>
          <a:xfrm>
            <a:off x="647700" y="2665065"/>
            <a:ext cx="5162550" cy="703461"/>
          </a:xfrm>
          <a:prstGeom prst="rect">
            <a:avLst/>
          </a:prstGeom>
          <a:noFill/>
        </p:spPr>
        <p:txBody>
          <a:bodyPr vert="horz" wrap="square" lIns="0" tIns="0" rIns="0" bIns="0" rtlCol="0" anchor="t">
            <a:noAutofit/>
          </a:bodyPr>
          <a:lstStyle/>
          <a:p>
            <a:pPr>
              <a:lnSpc>
                <a:spcPts val="5040"/>
              </a:lnSpc>
            </a:pPr>
            <a:r>
              <a:rPr lang="en-US" sz="3150" b="1">
                <a:solidFill>
                  <a:srgbClr val="173F35"/>
                </a:solidFill>
                <a:latin typeface="Segoe UI" panose="020B0502040204020203" pitchFamily="34" charset="0"/>
              </a:rPr>
              <a:t>AED 1,550</a:t>
            </a:r>
          </a:p>
        </p:txBody>
      </p:sp>
      <p:sp>
        <p:nvSpPr>
          <p:cNvPr id="6" name="TextBox 5">
            <a:extLst>
              <a:ext uri="{FF2B5EF4-FFF2-40B4-BE49-F238E27FC236}">
                <a16:creationId xmlns:a16="http://schemas.microsoft.com/office/drawing/2014/main" id="{78560936-1054-5983-BEBA-338B06B56C99}"/>
              </a:ext>
            </a:extLst>
          </p:cNvPr>
          <p:cNvSpPr txBox="1"/>
          <p:nvPr/>
        </p:nvSpPr>
        <p:spPr>
          <a:xfrm>
            <a:off x="647700" y="3438376"/>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AED 150 above the preferred budget.</a:t>
            </a:r>
          </a:p>
          <a:p>
            <a:pPr>
              <a:lnSpc>
                <a:spcPts val="2880"/>
              </a:lnSpc>
            </a:pPr>
            <a:r>
              <a:rPr lang="en-US">
                <a:solidFill>
                  <a:srgbClr val="173F35"/>
                </a:solidFill>
                <a:latin typeface="Segoe UI" panose="020B0502040204020203" pitchFamily="34" charset="0"/>
              </a:rPr>
              <a:t>The coordinator accepted the trade-off.</a:t>
            </a:r>
          </a:p>
        </p:txBody>
      </p:sp>
      <p:sp>
        <p:nvSpPr>
          <p:cNvPr id="7" name="TextBox 6">
            <a:extLst>
              <a:ext uri="{FF2B5EF4-FFF2-40B4-BE49-F238E27FC236}">
                <a16:creationId xmlns:a16="http://schemas.microsoft.com/office/drawing/2014/main" id="{BD6654BA-D2AC-B74A-7713-D932488BA832}"/>
              </a:ext>
            </a:extLst>
          </p:cNvPr>
          <p:cNvSpPr txBox="1"/>
          <p:nvPr/>
        </p:nvSpPr>
        <p:spPr>
          <a:xfrm>
            <a:off x="6381750" y="1612553"/>
            <a:ext cx="5162550" cy="292100"/>
          </a:xfrm>
          <a:prstGeom prst="rect">
            <a:avLst/>
          </a:prstGeom>
          <a:noFill/>
        </p:spPr>
        <p:txBody>
          <a:bodyPr vert="horz" wrap="square" lIns="0" tIns="0" rIns="0" bIns="0" rtlCol="0" anchor="t">
            <a:noAutofit/>
          </a:bodyPr>
          <a:lstStyle/>
          <a:p>
            <a:pPr>
              <a:lnSpc>
                <a:spcPts val="1800"/>
              </a:lnSpc>
            </a:pPr>
            <a:r>
              <a:rPr lang="en-US" sz="1125" b="1">
                <a:solidFill>
                  <a:srgbClr val="173F35"/>
                </a:solidFill>
                <a:latin typeface="Segoe UI" panose="020B0502040204020203" pitchFamily="34" charset="0"/>
              </a:rPr>
              <a:t>QUIETER ROOM, AFTER CORRECTION</a:t>
            </a:r>
          </a:p>
        </p:txBody>
      </p:sp>
      <p:sp>
        <p:nvSpPr>
          <p:cNvPr id="8" name="TextBox 7">
            <a:extLst>
              <a:ext uri="{FF2B5EF4-FFF2-40B4-BE49-F238E27FC236}">
                <a16:creationId xmlns:a16="http://schemas.microsoft.com/office/drawing/2014/main" id="{846EA1D8-292F-53A0-6FD5-434C2A174B24}"/>
              </a:ext>
            </a:extLst>
          </p:cNvPr>
          <p:cNvSpPr txBox="1"/>
          <p:nvPr/>
        </p:nvSpPr>
        <p:spPr>
          <a:xfrm>
            <a:off x="6381750" y="2126903"/>
            <a:ext cx="5162550" cy="468313"/>
          </a:xfrm>
          <a:prstGeom prst="rect">
            <a:avLst/>
          </a:prstGeom>
          <a:noFill/>
        </p:spPr>
        <p:txBody>
          <a:bodyPr vert="horz" wrap="square" lIns="0" tIns="0" rIns="0" bIns="0" rtlCol="0" anchor="t">
            <a:noAutofit/>
          </a:bodyPr>
          <a:lstStyle/>
          <a:p>
            <a:pPr>
              <a:lnSpc>
                <a:spcPts val="3188"/>
              </a:lnSpc>
            </a:pPr>
            <a:r>
              <a:rPr lang="en-US" sz="2550" b="1">
                <a:solidFill>
                  <a:srgbClr val="173F35"/>
                </a:solidFill>
                <a:latin typeface="Segoe UI" panose="020B0502040204020203" pitchFamily="34" charset="0"/>
              </a:rPr>
              <a:t>Cedar Room</a:t>
            </a:r>
          </a:p>
        </p:txBody>
      </p:sp>
      <p:sp>
        <p:nvSpPr>
          <p:cNvPr id="9" name="TextBox 8">
            <a:extLst>
              <a:ext uri="{FF2B5EF4-FFF2-40B4-BE49-F238E27FC236}">
                <a16:creationId xmlns:a16="http://schemas.microsoft.com/office/drawing/2014/main" id="{57383133-78CF-B6F0-5874-59A111463A87}"/>
              </a:ext>
            </a:extLst>
          </p:cNvPr>
          <p:cNvSpPr txBox="1"/>
          <p:nvPr/>
        </p:nvSpPr>
        <p:spPr>
          <a:xfrm>
            <a:off x="6381750" y="2665065"/>
            <a:ext cx="5162550" cy="703461"/>
          </a:xfrm>
          <a:prstGeom prst="rect">
            <a:avLst/>
          </a:prstGeom>
          <a:noFill/>
        </p:spPr>
        <p:txBody>
          <a:bodyPr vert="horz" wrap="square" lIns="0" tIns="0" rIns="0" bIns="0" rtlCol="0" anchor="t">
            <a:noAutofit/>
          </a:bodyPr>
          <a:lstStyle/>
          <a:p>
            <a:pPr>
              <a:lnSpc>
                <a:spcPts val="5040"/>
              </a:lnSpc>
            </a:pPr>
            <a:r>
              <a:rPr lang="en-US" sz="3150" b="1">
                <a:solidFill>
                  <a:srgbClr val="173F35"/>
                </a:solidFill>
                <a:latin typeface="Segoe UI" panose="020B0502040204020203" pitchFamily="34" charset="0"/>
              </a:rPr>
              <a:t>AED 1,350</a:t>
            </a:r>
          </a:p>
        </p:txBody>
      </p:sp>
      <p:sp>
        <p:nvSpPr>
          <p:cNvPr id="10" name="TextBox 9">
            <a:extLst>
              <a:ext uri="{FF2B5EF4-FFF2-40B4-BE49-F238E27FC236}">
                <a16:creationId xmlns:a16="http://schemas.microsoft.com/office/drawing/2014/main" id="{5F29ED87-90C4-74D1-888C-8DEEAD8ADB8C}"/>
              </a:ext>
            </a:extLst>
          </p:cNvPr>
          <p:cNvSpPr txBox="1"/>
          <p:nvPr/>
        </p:nvSpPr>
        <p:spPr>
          <a:xfrm>
            <a:off x="6381750" y="3438376"/>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AED 50 below the preferred budget.</a:t>
            </a:r>
          </a:p>
          <a:p>
            <a:pPr>
              <a:lnSpc>
                <a:spcPts val="2880"/>
              </a:lnSpc>
            </a:pPr>
            <a:r>
              <a:rPr lang="en-US">
                <a:solidFill>
                  <a:srgbClr val="173F35"/>
                </a:solidFill>
                <a:latin typeface="Segoe UI" panose="020B0502040204020203" pitchFamily="34" charset="0"/>
              </a:rPr>
              <a:t>AED 250 under the hard limit.</a:t>
            </a:r>
          </a:p>
        </p:txBody>
      </p:sp>
      <p:sp>
        <p:nvSpPr>
          <p:cNvPr id="11" name="TextBox 10">
            <a:extLst>
              <a:ext uri="{FF2B5EF4-FFF2-40B4-BE49-F238E27FC236}">
                <a16:creationId xmlns:a16="http://schemas.microsoft.com/office/drawing/2014/main" id="{1B506B82-FB87-21BC-AD4F-7F10F639FEE5}"/>
              </a:ext>
            </a:extLst>
          </p:cNvPr>
          <p:cNvSpPr txBox="1"/>
          <p:nvPr/>
        </p:nvSpPr>
        <p:spPr>
          <a:xfrm>
            <a:off x="647700" y="4703118"/>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Recorded live OpenAI runs, gpt-4.1-mini, 14 October 2026. Neither accepted run requested a revision.</a:t>
            </a:r>
          </a:p>
        </p:txBody>
      </p:sp>
    </p:spTree>
    <p:extLst>
      <p:ext uri="{BB962C8B-B14F-4D97-AF65-F5344CB8AC3E}">
        <p14:creationId xmlns:p14="http://schemas.microsoft.com/office/powerpoint/2010/main" val="3792960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DD0C0C-ECC4-44ED-D9F0-4CBF9159E967}"/>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Delegation still needs review</a:t>
            </a:r>
          </a:p>
        </p:txBody>
      </p:sp>
      <p:sp>
        <p:nvSpPr>
          <p:cNvPr id="3" name="TextBox 2">
            <a:extLst>
              <a:ext uri="{FF2B5EF4-FFF2-40B4-BE49-F238E27FC236}">
                <a16:creationId xmlns:a16="http://schemas.microsoft.com/office/drawing/2014/main" id="{FE54C475-8C4F-7A98-3B06-8B0B80A45B3B}"/>
              </a:ext>
            </a:extLst>
          </p:cNvPr>
          <p:cNvSpPr txBox="1"/>
          <p:nvPr/>
        </p:nvSpPr>
        <p:spPr>
          <a:xfrm>
            <a:off x="647700" y="1374428"/>
            <a:ext cx="10896600" cy="477838"/>
          </a:xfrm>
          <a:prstGeom prst="rect">
            <a:avLst/>
          </a:prstGeom>
          <a:noFill/>
        </p:spPr>
        <p:txBody>
          <a:bodyPr vert="horz" wrap="square" lIns="0" tIns="0" rIns="0" bIns="0" rtlCol="0" anchor="t">
            <a:noAutofit/>
          </a:bodyPr>
          <a:lstStyle/>
          <a:p>
            <a:pPr>
              <a:lnSpc>
                <a:spcPts val="3263"/>
              </a:lnSpc>
            </a:pPr>
            <a:r>
              <a:rPr lang="en-US" sz="2250">
                <a:solidFill>
                  <a:srgbClr val="173F35"/>
                </a:solidFill>
                <a:latin typeface="Segoe UI" panose="020B0502040204020203" pitchFamily="34" charset="0"/>
              </a:rPr>
              <a:t>A completed task can contain a wrong explanation.</a:t>
            </a:r>
          </a:p>
        </p:txBody>
      </p:sp>
      <p:sp>
        <p:nvSpPr>
          <p:cNvPr id="4" name="TextBox 3">
            <a:extLst>
              <a:ext uri="{FF2B5EF4-FFF2-40B4-BE49-F238E27FC236}">
                <a16:creationId xmlns:a16="http://schemas.microsoft.com/office/drawing/2014/main" id="{0B5920F4-4985-5E23-8A45-DD05DE00E24A}"/>
              </a:ext>
            </a:extLst>
          </p:cNvPr>
          <p:cNvSpPr txBox="1"/>
          <p:nvPr/>
        </p:nvSpPr>
        <p:spPr>
          <a:xfrm>
            <a:off x="647700" y="2150715"/>
            <a:ext cx="10896600" cy="740073"/>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The first quiet-room run chose Cedar Room correctly, but described AED 1,350 as above the AED 1,400 preferred budget.</a:t>
            </a:r>
          </a:p>
        </p:txBody>
      </p:sp>
      <p:sp>
        <p:nvSpPr>
          <p:cNvPr id="5" name="TextBox 4">
            <a:extLst>
              <a:ext uri="{FF2B5EF4-FFF2-40B4-BE49-F238E27FC236}">
                <a16:creationId xmlns:a16="http://schemas.microsoft.com/office/drawing/2014/main" id="{C911B8F3-40E3-5A01-E185-656B4E580978}"/>
              </a:ext>
            </a:extLst>
          </p:cNvPr>
          <p:cNvSpPr txBox="1"/>
          <p:nvPr/>
        </p:nvSpPr>
        <p:spPr>
          <a:xfrm>
            <a:off x="952500" y="3055888"/>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1. </a:t>
            </a:r>
            <a:r>
              <a:rPr lang="en-US" b="1">
                <a:solidFill>
                  <a:srgbClr val="173F35"/>
                </a:solidFill>
                <a:latin typeface="Segoe UI" panose="020B0502040204020203" pitchFamily="34" charset="0"/>
              </a:rPr>
              <a:t>Code checks facts</a:t>
            </a:r>
            <a:r>
              <a:rPr lang="en-US">
                <a:solidFill>
                  <a:srgbClr val="173F35"/>
                </a:solidFill>
                <a:latin typeface="Segoe UI" panose="020B0502040204020203" pitchFamily="34" charset="0"/>
              </a:rPr>
              <a:t>: Canonical prices, constraints and budget arithmetic</a:t>
            </a:r>
          </a:p>
        </p:txBody>
      </p:sp>
      <p:sp>
        <p:nvSpPr>
          <p:cNvPr id="6" name="TextBox 5">
            <a:extLst>
              <a:ext uri="{FF2B5EF4-FFF2-40B4-BE49-F238E27FC236}">
                <a16:creationId xmlns:a16="http://schemas.microsoft.com/office/drawing/2014/main" id="{C18693B8-4CB1-AF6C-CDE2-A44AC7381F7A}"/>
              </a:ext>
            </a:extLst>
          </p:cNvPr>
          <p:cNvSpPr txBox="1"/>
          <p:nvPr/>
        </p:nvSpPr>
        <p:spPr>
          <a:xfrm>
            <a:off x="952500" y="3527524"/>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2. </a:t>
            </a:r>
            <a:r>
              <a:rPr lang="en-US" b="1">
                <a:solidFill>
                  <a:srgbClr val="173F35"/>
                </a:solidFill>
                <a:latin typeface="Segoe UI" panose="020B0502040204020203" pitchFamily="34" charset="0"/>
              </a:rPr>
              <a:t>Coordinator reviews</a:t>
            </a:r>
            <a:r>
              <a:rPr lang="en-US">
                <a:solidFill>
                  <a:srgbClr val="173F35"/>
                </a:solidFill>
                <a:latin typeface="Segoe UI" panose="020B0502040204020203" pitchFamily="34" charset="0"/>
              </a:rPr>
              <a:t>: Accept, request one revision, or reject</a:t>
            </a:r>
          </a:p>
        </p:txBody>
      </p:sp>
      <p:sp>
        <p:nvSpPr>
          <p:cNvPr id="7" name="TextBox 6">
            <a:extLst>
              <a:ext uri="{FF2B5EF4-FFF2-40B4-BE49-F238E27FC236}">
                <a16:creationId xmlns:a16="http://schemas.microsoft.com/office/drawing/2014/main" id="{239EBFD7-5FE3-FD2C-47CA-2FC4CA93982D}"/>
              </a:ext>
            </a:extLst>
          </p:cNvPr>
          <p:cNvSpPr txBox="1"/>
          <p:nvPr/>
        </p:nvSpPr>
        <p:spPr>
          <a:xfrm>
            <a:off x="952500" y="3999161"/>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3. </a:t>
            </a:r>
            <a:r>
              <a:rPr lang="en-US" b="1">
                <a:solidFill>
                  <a:srgbClr val="173F35"/>
                </a:solidFill>
                <a:latin typeface="Segoe UI" panose="020B0502040204020203" pitchFamily="34" charset="0"/>
              </a:rPr>
              <a:t>Revisions stay bounded</a:t>
            </a:r>
            <a:r>
              <a:rPr lang="en-US">
                <a:solidFill>
                  <a:srgbClr val="173F35"/>
                </a:solidFill>
                <a:latin typeface="Segoe UI" panose="020B0502040204020203" pitchFamily="34" charset="0"/>
              </a:rPr>
              <a:t>: A new linked task in the same context, at most once</a:t>
            </a:r>
          </a:p>
        </p:txBody>
      </p:sp>
      <p:sp>
        <p:nvSpPr>
          <p:cNvPr id="8" name="TextBox 7">
            <a:extLst>
              <a:ext uri="{FF2B5EF4-FFF2-40B4-BE49-F238E27FC236}">
                <a16:creationId xmlns:a16="http://schemas.microsoft.com/office/drawing/2014/main" id="{F2FFD24C-1038-DE97-7AD1-FEDE5E6DE1AC}"/>
              </a:ext>
            </a:extLst>
          </p:cNvPr>
          <p:cNvSpPr txBox="1"/>
          <p:nvPr/>
        </p:nvSpPr>
        <p:spPr>
          <a:xfrm>
            <a:off x="647700" y="4642247"/>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Linked revisions are verified with model fixtures. A live model-requested revision has not been observed.</a:t>
            </a:r>
          </a:p>
        </p:txBody>
      </p:sp>
    </p:spTree>
    <p:extLst>
      <p:ext uri="{BB962C8B-B14F-4D97-AF65-F5344CB8AC3E}">
        <p14:creationId xmlns:p14="http://schemas.microsoft.com/office/powerpoint/2010/main" val="279356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FE13CD-7083-A466-049F-54B62CDF31AF}"/>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The interface makes the handoff visible</a:t>
            </a:r>
          </a:p>
        </p:txBody>
      </p:sp>
      <p:sp>
        <p:nvSpPr>
          <p:cNvPr id="3" name="TextBox 2">
            <a:extLst>
              <a:ext uri="{FF2B5EF4-FFF2-40B4-BE49-F238E27FC236}">
                <a16:creationId xmlns:a16="http://schemas.microsoft.com/office/drawing/2014/main" id="{5585F45F-11BC-EB28-34DE-F06A2C8B6C90}"/>
              </a:ext>
            </a:extLst>
          </p:cNvPr>
          <p:cNvSpPr txBox="1"/>
          <p:nvPr/>
        </p:nvSpPr>
        <p:spPr>
          <a:xfrm>
            <a:off x="647700" y="137442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Conversation</a:t>
            </a:r>
          </a:p>
        </p:txBody>
      </p:sp>
      <p:sp>
        <p:nvSpPr>
          <p:cNvPr id="4" name="TextBox 3">
            <a:extLst>
              <a:ext uri="{FF2B5EF4-FFF2-40B4-BE49-F238E27FC236}">
                <a16:creationId xmlns:a16="http://schemas.microsoft.com/office/drawing/2014/main" id="{B69CCD39-DB65-4DD4-1D44-7E3B5C18B53F}"/>
              </a:ext>
            </a:extLst>
          </p:cNvPr>
          <p:cNvSpPr txBox="1"/>
          <p:nvPr/>
        </p:nvSpPr>
        <p:spPr>
          <a:xfrm>
            <a:off x="647700" y="1829246"/>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Watch delegation, public explanations and clarification questions.</a:t>
            </a:r>
          </a:p>
        </p:txBody>
      </p:sp>
      <p:sp>
        <p:nvSpPr>
          <p:cNvPr id="5" name="TextBox 4">
            <a:extLst>
              <a:ext uri="{FF2B5EF4-FFF2-40B4-BE49-F238E27FC236}">
                <a16:creationId xmlns:a16="http://schemas.microsoft.com/office/drawing/2014/main" id="{494949B0-309F-0539-C67A-651AE0212AA5}"/>
              </a:ext>
            </a:extLst>
          </p:cNvPr>
          <p:cNvSpPr txBox="1"/>
          <p:nvPr/>
        </p:nvSpPr>
        <p:spPr>
          <a:xfrm>
            <a:off x="647700" y="282728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Recommendation</a:t>
            </a:r>
          </a:p>
        </p:txBody>
      </p:sp>
      <p:sp>
        <p:nvSpPr>
          <p:cNvPr id="6" name="TextBox 5">
            <a:extLst>
              <a:ext uri="{FF2B5EF4-FFF2-40B4-BE49-F238E27FC236}">
                <a16:creationId xmlns:a16="http://schemas.microsoft.com/office/drawing/2014/main" id="{413F4DAD-24F0-3E1D-A2EF-7AEA0BA6AC56}"/>
              </a:ext>
            </a:extLst>
          </p:cNvPr>
          <p:cNvSpPr txBox="1"/>
          <p:nvPr/>
        </p:nvSpPr>
        <p:spPr>
          <a:xfrm>
            <a:off x="647700" y="3282107"/>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Compare venues, budget stretch and the coordinator's review.</a:t>
            </a:r>
          </a:p>
        </p:txBody>
      </p:sp>
      <p:sp>
        <p:nvSpPr>
          <p:cNvPr id="7" name="TextBox 6">
            <a:extLst>
              <a:ext uri="{FF2B5EF4-FFF2-40B4-BE49-F238E27FC236}">
                <a16:creationId xmlns:a16="http://schemas.microsoft.com/office/drawing/2014/main" id="{01E20707-1BDF-C9EF-2985-CC987BF4B8EA}"/>
              </a:ext>
            </a:extLst>
          </p:cNvPr>
          <p:cNvSpPr txBox="1"/>
          <p:nvPr/>
        </p:nvSpPr>
        <p:spPr>
          <a:xfrm>
            <a:off x="6381750" y="137442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Protocol inspector</a:t>
            </a:r>
          </a:p>
        </p:txBody>
      </p:sp>
      <p:sp>
        <p:nvSpPr>
          <p:cNvPr id="8" name="TextBox 7">
            <a:extLst>
              <a:ext uri="{FF2B5EF4-FFF2-40B4-BE49-F238E27FC236}">
                <a16:creationId xmlns:a16="http://schemas.microsoft.com/office/drawing/2014/main" id="{48417DF6-EC32-EFC9-7C64-F4FA339B3460}"/>
              </a:ext>
            </a:extLst>
          </p:cNvPr>
          <p:cNvSpPr txBox="1"/>
          <p:nvPr/>
        </p:nvSpPr>
        <p:spPr>
          <a:xfrm>
            <a:off x="6381750" y="1829246"/>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Read actual Agent Card requests, messages and task identifiers.</a:t>
            </a:r>
          </a:p>
        </p:txBody>
      </p:sp>
      <p:sp>
        <p:nvSpPr>
          <p:cNvPr id="9" name="TextBox 8">
            <a:extLst>
              <a:ext uri="{FF2B5EF4-FFF2-40B4-BE49-F238E27FC236}">
                <a16:creationId xmlns:a16="http://schemas.microsoft.com/office/drawing/2014/main" id="{54F56C9B-855C-F986-56B0-4A1705B6EB61}"/>
              </a:ext>
            </a:extLst>
          </p:cNvPr>
          <p:cNvSpPr txBox="1"/>
          <p:nvPr/>
        </p:nvSpPr>
        <p:spPr>
          <a:xfrm>
            <a:off x="6381750" y="282728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VitePress guide</a:t>
            </a:r>
          </a:p>
        </p:txBody>
      </p:sp>
      <p:sp>
        <p:nvSpPr>
          <p:cNvPr id="10" name="TextBox 9">
            <a:extLst>
              <a:ext uri="{FF2B5EF4-FFF2-40B4-BE49-F238E27FC236}">
                <a16:creationId xmlns:a16="http://schemas.microsoft.com/office/drawing/2014/main" id="{2050800A-13E8-0DB2-23CE-9B8E32057D55}"/>
              </a:ext>
            </a:extLst>
          </p:cNvPr>
          <p:cNvSpPr txBox="1"/>
          <p:nvPr/>
        </p:nvSpPr>
        <p:spPr>
          <a:xfrm>
            <a:off x="6381750" y="3282107"/>
            <a:ext cx="5162550" cy="794841"/>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Walk through the sequence, try the quiz and inspect the architecture.</a:t>
            </a:r>
          </a:p>
        </p:txBody>
      </p:sp>
      <p:sp>
        <p:nvSpPr>
          <p:cNvPr id="11" name="TextBox 10">
            <a:extLst>
              <a:ext uri="{FF2B5EF4-FFF2-40B4-BE49-F238E27FC236}">
                <a16:creationId xmlns:a16="http://schemas.microsoft.com/office/drawing/2014/main" id="{FDFFB2FB-AF9C-F43A-5E61-7D675C095432}"/>
              </a:ext>
            </a:extLst>
          </p:cNvPr>
          <p:cNvSpPr txBox="1"/>
          <p:nvPr/>
        </p:nvSpPr>
        <p:spPr>
          <a:xfrm>
            <a:off x="647700" y="4546848"/>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The UI shows public explanations. It does not expose hidden model reasoning.</a:t>
            </a:r>
          </a:p>
        </p:txBody>
      </p:sp>
    </p:spTree>
    <p:extLst>
      <p:ext uri="{BB962C8B-B14F-4D97-AF65-F5344CB8AC3E}">
        <p14:creationId xmlns:p14="http://schemas.microsoft.com/office/powerpoint/2010/main" val="2441711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7E233E-53FA-FE68-BF50-DCF54F5CD34F}"/>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Code organization and local setup</a:t>
            </a:r>
          </a:p>
        </p:txBody>
      </p:sp>
      <p:sp>
        <p:nvSpPr>
          <p:cNvPr id="3" name="TextBox 2">
            <a:extLst>
              <a:ext uri="{FF2B5EF4-FFF2-40B4-BE49-F238E27FC236}">
                <a16:creationId xmlns:a16="http://schemas.microsoft.com/office/drawing/2014/main" id="{B6C8BF3C-2D20-8DB8-551C-F1D0F8F195EE}"/>
              </a:ext>
            </a:extLst>
          </p:cNvPr>
          <p:cNvSpPr txBox="1"/>
          <p:nvPr/>
        </p:nvSpPr>
        <p:spPr>
          <a:xfrm>
            <a:off x="647700" y="137442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A small, separated codebase</a:t>
            </a:r>
          </a:p>
        </p:txBody>
      </p:sp>
      <p:sp>
        <p:nvSpPr>
          <p:cNvPr id="4" name="TextBox 3">
            <a:extLst>
              <a:ext uri="{FF2B5EF4-FFF2-40B4-BE49-F238E27FC236}">
                <a16:creationId xmlns:a16="http://schemas.microsoft.com/office/drawing/2014/main" id="{97C8496A-0D05-0F88-A88F-885ABF9374F9}"/>
              </a:ext>
            </a:extLst>
          </p:cNvPr>
          <p:cNvSpPr txBox="1"/>
          <p:nvPr/>
        </p:nvSpPr>
        <p:spPr>
          <a:xfrm>
            <a:off x="647700" y="1829246"/>
            <a:ext cx="5162550" cy="1946920"/>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src/agents — coordinator and specialist</a:t>
            </a:r>
          </a:p>
          <a:p>
            <a:pPr>
              <a:lnSpc>
                <a:spcPts val="2880"/>
              </a:lnSpc>
            </a:pPr>
            <a:r>
              <a:rPr lang="en-US">
                <a:solidFill>
                  <a:srgbClr val="173F35"/>
                </a:solidFill>
                <a:latin typeface="Segoe UI" panose="020B0502040204020203" pitchFamily="34" charset="0"/>
              </a:rPr>
              <a:t>src/protocol — Agent Card</a:t>
            </a:r>
          </a:p>
          <a:p>
            <a:pPr>
              <a:lnSpc>
                <a:spcPts val="2880"/>
              </a:lnSpc>
            </a:pPr>
            <a:r>
              <a:rPr lang="en-US">
                <a:solidFill>
                  <a:srgbClr val="173F35"/>
                </a:solidFill>
                <a:latin typeface="Segoe UI" panose="020B0502040204020203" pitchFamily="34" charset="0"/>
              </a:rPr>
              <a:t>src/domain — catalogue and checks</a:t>
            </a:r>
          </a:p>
          <a:p>
            <a:pPr>
              <a:lnSpc>
                <a:spcPts val="2880"/>
              </a:lnSpc>
            </a:pPr>
            <a:r>
              <a:rPr lang="en-US">
                <a:solidFill>
                  <a:srgbClr val="173F35"/>
                </a:solidFill>
                <a:latin typeface="Segoe UI" panose="020B0502040204020203" pitchFamily="34" charset="0"/>
              </a:rPr>
              <a:t>public — UI and slides</a:t>
            </a:r>
          </a:p>
          <a:p>
            <a:pPr>
              <a:lnSpc>
                <a:spcPts val="2880"/>
              </a:lnSpc>
            </a:pPr>
            <a:r>
              <a:rPr lang="en-US">
                <a:solidFill>
                  <a:srgbClr val="173F35"/>
                </a:solidFill>
                <a:latin typeface="Segoe UI" panose="020B0502040204020203" pitchFamily="34" charset="0"/>
              </a:rPr>
              <a:t>docs — VitePress explanation</a:t>
            </a:r>
          </a:p>
        </p:txBody>
      </p:sp>
      <p:sp>
        <p:nvSpPr>
          <p:cNvPr id="5" name="TextBox 4">
            <a:extLst>
              <a:ext uri="{FF2B5EF4-FFF2-40B4-BE49-F238E27FC236}">
                <a16:creationId xmlns:a16="http://schemas.microsoft.com/office/drawing/2014/main" id="{F81805A3-8C72-6341-9D36-713FD0918624}"/>
              </a:ext>
            </a:extLst>
          </p:cNvPr>
          <p:cNvSpPr txBox="1"/>
          <p:nvPr/>
        </p:nvSpPr>
        <p:spPr>
          <a:xfrm>
            <a:off x="6381750" y="137442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Start from the repository folder</a:t>
            </a:r>
          </a:p>
        </p:txBody>
      </p:sp>
      <p:sp>
        <p:nvSpPr>
          <p:cNvPr id="6" name="TextBox 5">
            <a:extLst>
              <a:ext uri="{FF2B5EF4-FFF2-40B4-BE49-F238E27FC236}">
                <a16:creationId xmlns:a16="http://schemas.microsoft.com/office/drawing/2014/main" id="{77885278-E41A-CC32-9D94-0E7FF6192D37}"/>
              </a:ext>
            </a:extLst>
          </p:cNvPr>
          <p:cNvSpPr txBox="1"/>
          <p:nvPr/>
        </p:nvSpPr>
        <p:spPr>
          <a:xfrm>
            <a:off x="6381750" y="1829246"/>
            <a:ext cx="5162550" cy="855861"/>
          </a:xfrm>
          <a:prstGeom prst="rect">
            <a:avLst/>
          </a:prstGeom>
          <a:noFill/>
        </p:spPr>
        <p:txBody>
          <a:bodyPr vert="horz" wrap="square" lIns="0" tIns="0" rIns="0" bIns="0" rtlCol="0" anchor="t">
            <a:noAutofit/>
          </a:bodyPr>
          <a:lstStyle/>
          <a:p>
            <a:pPr>
              <a:lnSpc>
                <a:spcPts val="3120"/>
              </a:lnSpc>
            </a:pPr>
            <a:r>
              <a:rPr lang="en-US" sz="1950">
                <a:solidFill>
                  <a:srgbClr val="173F35"/>
                </a:solidFill>
                <a:latin typeface="Consolas" panose="020B0609020204030204" pitchFamily="49" charset="0"/>
              </a:rPr>
              <a:t>npm ci</a:t>
            </a:r>
          </a:p>
          <a:p>
            <a:pPr>
              <a:lnSpc>
                <a:spcPts val="3120"/>
              </a:lnSpc>
            </a:pPr>
            <a:r>
              <a:rPr lang="en-US" sz="1950">
                <a:solidFill>
                  <a:srgbClr val="173F35"/>
                </a:solidFill>
                <a:latin typeface="Consolas" panose="020B0609020204030204" pitchFamily="49" charset="0"/>
              </a:rPr>
              <a:t>npm start</a:t>
            </a:r>
          </a:p>
        </p:txBody>
      </p:sp>
      <p:sp>
        <p:nvSpPr>
          <p:cNvPr id="7" name="TextBox 6">
            <a:extLst>
              <a:ext uri="{FF2B5EF4-FFF2-40B4-BE49-F238E27FC236}">
                <a16:creationId xmlns:a16="http://schemas.microsoft.com/office/drawing/2014/main" id="{B5525FF8-CABB-4642-C2B3-01ED18141310}"/>
              </a:ext>
            </a:extLst>
          </p:cNvPr>
          <p:cNvSpPr txBox="1"/>
          <p:nvPr/>
        </p:nvSpPr>
        <p:spPr>
          <a:xfrm>
            <a:off x="6381750" y="2869257"/>
            <a:ext cx="5162550" cy="816868"/>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Open 127.0.0.1:8780.</a:t>
            </a:r>
          </a:p>
          <a:p>
            <a:pPr>
              <a:lnSpc>
                <a:spcPts val="2880"/>
              </a:lnSpc>
            </a:pPr>
            <a:r>
              <a:rPr lang="en-US">
                <a:solidFill>
                  <a:srgbClr val="173F35"/>
                </a:solidFill>
                <a:latin typeface="Segoe UI" panose="020B0502040204020203" pitchFamily="34" charset="0"/>
              </a:rPr>
              <a:t>Run npm run docs:dev for the guide.</a:t>
            </a:r>
          </a:p>
        </p:txBody>
      </p:sp>
      <p:sp>
        <p:nvSpPr>
          <p:cNvPr id="8" name="TextBox 7">
            <a:extLst>
              <a:ext uri="{FF2B5EF4-FFF2-40B4-BE49-F238E27FC236}">
                <a16:creationId xmlns:a16="http://schemas.microsoft.com/office/drawing/2014/main" id="{036500F8-EFB7-C040-67B3-223BBBF59F18}"/>
              </a:ext>
            </a:extLst>
          </p:cNvPr>
          <p:cNvSpPr txBox="1"/>
          <p:nvPr/>
        </p:nvSpPr>
        <p:spPr>
          <a:xfrm>
            <a:off x="647700" y="4246066"/>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Copy .env.example to .env for Live AI. The local key stays on the server and outside Git.</a:t>
            </a:r>
          </a:p>
        </p:txBody>
      </p:sp>
    </p:spTree>
    <p:extLst>
      <p:ext uri="{BB962C8B-B14F-4D97-AF65-F5344CB8AC3E}">
        <p14:creationId xmlns:p14="http://schemas.microsoft.com/office/powerpoint/2010/main" val="200054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A0B4B9-2487-8383-6873-B5F6D527447F}"/>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Evidence and compatibility limits</a:t>
            </a:r>
          </a:p>
        </p:txBody>
      </p:sp>
      <p:sp>
        <p:nvSpPr>
          <p:cNvPr id="3" name="TextBox 2">
            <a:extLst>
              <a:ext uri="{FF2B5EF4-FFF2-40B4-BE49-F238E27FC236}">
                <a16:creationId xmlns:a16="http://schemas.microsoft.com/office/drawing/2014/main" id="{ADF06D92-3C36-9BAF-4ADA-1177361D61F2}"/>
              </a:ext>
            </a:extLst>
          </p:cNvPr>
          <p:cNvSpPr txBox="1"/>
          <p:nvPr/>
        </p:nvSpPr>
        <p:spPr>
          <a:xfrm>
            <a:off x="647700" y="137442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Verified for this project</a:t>
            </a:r>
          </a:p>
        </p:txBody>
      </p:sp>
      <p:sp>
        <p:nvSpPr>
          <p:cNvPr id="4" name="TextBox 3">
            <a:extLst>
              <a:ext uri="{FF2B5EF4-FFF2-40B4-BE49-F238E27FC236}">
                <a16:creationId xmlns:a16="http://schemas.microsoft.com/office/drawing/2014/main" id="{F1F1057F-83CA-EF34-C8C1-4AA48486B519}"/>
              </a:ext>
            </a:extLst>
          </p:cNvPr>
          <p:cNvSpPr txBox="1"/>
          <p:nvPr/>
        </p:nvSpPr>
        <p:spPr>
          <a:xfrm>
            <a:off x="647700" y="1829246"/>
            <a:ext cx="5162550" cy="1891854"/>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19 automated Node tests</a:t>
            </a:r>
          </a:p>
          <a:p>
            <a:pPr>
              <a:lnSpc>
                <a:spcPts val="2880"/>
              </a:lnSpc>
            </a:pPr>
            <a:r>
              <a:rPr lang="en-US">
                <a:solidFill>
                  <a:srgbClr val="173F35"/>
                </a:solidFill>
                <a:latin typeface="Segoe UI" panose="020B0502040204020203" pitchFamily="34" charset="0"/>
              </a:rPr>
              <a:t>Browser and accessibility checks</a:t>
            </a:r>
          </a:p>
          <a:p>
            <a:pPr>
              <a:lnSpc>
                <a:spcPts val="2880"/>
              </a:lnSpc>
            </a:pPr>
            <a:r>
              <a:rPr lang="en-US">
                <a:solidFill>
                  <a:srgbClr val="173F35"/>
                </a:solidFill>
                <a:latin typeface="Segoe UI" panose="020B0502040204020203" pitchFamily="34" charset="0"/>
              </a:rPr>
              <a:t>Same-task clarification</a:t>
            </a:r>
          </a:p>
          <a:p>
            <a:pPr>
              <a:lnSpc>
                <a:spcPts val="2880"/>
              </a:lnSpc>
            </a:pPr>
            <a:r>
              <a:rPr lang="en-US">
                <a:solidFill>
                  <a:srgbClr val="173F35"/>
                </a:solidFill>
                <a:latin typeface="Segoe UI" panose="020B0502040204020203" pitchFamily="34" charset="0"/>
              </a:rPr>
              <a:t>Linked revision with fixtures</a:t>
            </a:r>
          </a:p>
          <a:p>
            <a:pPr>
              <a:lnSpc>
                <a:spcPts val="2880"/>
              </a:lnSpc>
            </a:pPr>
            <a:r>
              <a:rPr lang="en-US">
                <a:solidFill>
                  <a:srgbClr val="173F35"/>
                </a:solidFill>
                <a:latin typeface="Segoe UI" panose="020B0502040204020203" pitchFamily="34" charset="0"/>
              </a:rPr>
              <a:t>Two accepted live priority outcomes</a:t>
            </a:r>
          </a:p>
        </p:txBody>
      </p:sp>
      <p:sp>
        <p:nvSpPr>
          <p:cNvPr id="5" name="TextBox 4">
            <a:extLst>
              <a:ext uri="{FF2B5EF4-FFF2-40B4-BE49-F238E27FC236}">
                <a16:creationId xmlns:a16="http://schemas.microsoft.com/office/drawing/2014/main" id="{7D662EAD-209F-738D-4E81-17C6F50B8F4D}"/>
              </a:ext>
            </a:extLst>
          </p:cNvPr>
          <p:cNvSpPr txBox="1"/>
          <p:nvPr/>
        </p:nvSpPr>
        <p:spPr>
          <a:xfrm>
            <a:off x="6381750" y="1374428"/>
            <a:ext cx="5162550" cy="384969"/>
          </a:xfrm>
          <a:prstGeom prst="rect">
            <a:avLst/>
          </a:prstGeom>
          <a:noFill/>
        </p:spPr>
        <p:txBody>
          <a:bodyPr vert="horz" wrap="square" lIns="0" tIns="0" rIns="0" bIns="0" rtlCol="0" anchor="t">
            <a:noAutofit/>
          </a:bodyPr>
          <a:lstStyle/>
          <a:p>
            <a:pPr>
              <a:lnSpc>
                <a:spcPts val="2531"/>
              </a:lnSpc>
            </a:pPr>
            <a:r>
              <a:rPr lang="en-US" sz="2025" b="1">
                <a:solidFill>
                  <a:srgbClr val="173F35"/>
                </a:solidFill>
                <a:latin typeface="Segoe UI" panose="020B0502040204020203" pitchFamily="34" charset="0"/>
              </a:rPr>
              <a:t>Outside the demonstrated scope</a:t>
            </a:r>
          </a:p>
        </p:txBody>
      </p:sp>
      <p:sp>
        <p:nvSpPr>
          <p:cNvPr id="6" name="TextBox 5">
            <a:extLst>
              <a:ext uri="{FF2B5EF4-FFF2-40B4-BE49-F238E27FC236}">
                <a16:creationId xmlns:a16="http://schemas.microsoft.com/office/drawing/2014/main" id="{4DAF7100-08ED-032C-E2C3-4E6942EDDC6B}"/>
              </a:ext>
            </a:extLst>
          </p:cNvPr>
          <p:cNvSpPr txBox="1"/>
          <p:nvPr/>
        </p:nvSpPr>
        <p:spPr>
          <a:xfrm>
            <a:off x="6381750" y="1829246"/>
            <a:ext cx="5162550" cy="1891854"/>
          </a:xfrm>
          <a:prstGeom prst="rect">
            <a:avLst/>
          </a:prstGeom>
          <a:noFill/>
        </p:spPr>
        <p:txBody>
          <a:bodyPr vert="horz" wrap="square" lIns="0" tIns="0" rIns="0" bIns="0" rtlCol="0" anchor="t">
            <a:noAutofit/>
          </a:bodyPr>
          <a:lstStyle/>
          <a:p>
            <a:pPr>
              <a:lnSpc>
                <a:spcPts val="2880"/>
              </a:lnSpc>
            </a:pPr>
            <a:r>
              <a:rPr lang="en-US">
                <a:solidFill>
                  <a:srgbClr val="173F35"/>
                </a:solidFill>
                <a:latin typeface="Segoe UI" panose="020B0502040204020203" pitchFamily="34" charset="0"/>
              </a:rPr>
              <a:t>Cross-company interoperability</a:t>
            </a:r>
          </a:p>
          <a:p>
            <a:pPr>
              <a:lnSpc>
                <a:spcPts val="2880"/>
              </a:lnSpc>
            </a:pPr>
            <a:r>
              <a:rPr lang="en-US">
                <a:solidFill>
                  <a:srgbClr val="173F35"/>
                </a:solidFill>
                <a:latin typeface="Segoe UI" panose="020B0502040204020203" pitchFamily="34" charset="0"/>
              </a:rPr>
              <a:t>Full A2A conformance certification</a:t>
            </a:r>
          </a:p>
          <a:p>
            <a:pPr>
              <a:lnSpc>
                <a:spcPts val="2880"/>
              </a:lnSpc>
            </a:pPr>
            <a:r>
              <a:rPr lang="en-US">
                <a:solidFill>
                  <a:srgbClr val="173F35"/>
                </a:solidFill>
                <a:latin typeface="Segoe UI" panose="020B0502040204020203" pitchFamily="34" charset="0"/>
              </a:rPr>
              <a:t>Streaming and push notifications</a:t>
            </a:r>
          </a:p>
          <a:p>
            <a:pPr>
              <a:lnSpc>
                <a:spcPts val="2880"/>
              </a:lnSpc>
            </a:pPr>
            <a:r>
              <a:rPr lang="en-US">
                <a:solidFill>
                  <a:srgbClr val="173F35"/>
                </a:solidFill>
                <a:latin typeface="Segoe UI" panose="020B0502040204020203" pitchFamily="34" charset="0"/>
              </a:rPr>
              <a:t>A live MCP server</a:t>
            </a:r>
          </a:p>
          <a:p>
            <a:pPr>
              <a:lnSpc>
                <a:spcPts val="2880"/>
              </a:lnSpc>
            </a:pPr>
            <a:r>
              <a:rPr lang="en-US">
                <a:solidFill>
                  <a:srgbClr val="173F35"/>
                </a:solidFill>
                <a:latin typeface="Segoe UI" panose="020B0502040204020203" pitchFamily="34" charset="0"/>
              </a:rPr>
              <a:t>Real venue booking or availability</a:t>
            </a:r>
          </a:p>
        </p:txBody>
      </p:sp>
      <p:sp>
        <p:nvSpPr>
          <p:cNvPr id="7" name="TextBox 6">
            <a:extLst>
              <a:ext uri="{FF2B5EF4-FFF2-40B4-BE49-F238E27FC236}">
                <a16:creationId xmlns:a16="http://schemas.microsoft.com/office/drawing/2014/main" id="{CAFA7E8E-85AA-3D37-4B76-7B1DEEA0AF79}"/>
              </a:ext>
            </a:extLst>
          </p:cNvPr>
          <p:cNvSpPr txBox="1"/>
          <p:nvPr/>
        </p:nvSpPr>
        <p:spPr>
          <a:xfrm>
            <a:off x="647700" y="4191000"/>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Automated checks and live observations answer different questions. Neither guarantees future model correctness.</a:t>
            </a:r>
          </a:p>
        </p:txBody>
      </p:sp>
    </p:spTree>
    <p:extLst>
      <p:ext uri="{BB962C8B-B14F-4D97-AF65-F5344CB8AC3E}">
        <p14:creationId xmlns:p14="http://schemas.microsoft.com/office/powerpoint/2010/main" val="35738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AF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5E1850-70AE-AD81-711D-761011573041}"/>
              </a:ext>
            </a:extLst>
          </p:cNvPr>
          <p:cNvSpPr txBox="1"/>
          <p:nvPr/>
        </p:nvSpPr>
        <p:spPr>
          <a:xfrm>
            <a:off x="647700" y="514350"/>
            <a:ext cx="10896600" cy="542578"/>
          </a:xfrm>
          <a:prstGeom prst="rect">
            <a:avLst/>
          </a:prstGeom>
          <a:noFill/>
        </p:spPr>
        <p:txBody>
          <a:bodyPr vert="horz" wrap="square" lIns="0" tIns="0" rIns="0" bIns="0" rtlCol="0" anchor="t">
            <a:noAutofit/>
          </a:bodyPr>
          <a:lstStyle/>
          <a:p>
            <a:pPr>
              <a:lnSpc>
                <a:spcPts val="3773"/>
              </a:lnSpc>
            </a:pPr>
            <a:r>
              <a:rPr lang="en-US" sz="3225" b="1">
                <a:solidFill>
                  <a:srgbClr val="173F35"/>
                </a:solidFill>
                <a:latin typeface="Segoe UI" panose="020B0502040204020203" pitchFamily="34" charset="0"/>
              </a:rPr>
              <a:t>The classroom demonstration</a:t>
            </a:r>
          </a:p>
        </p:txBody>
      </p:sp>
      <p:sp>
        <p:nvSpPr>
          <p:cNvPr id="3" name="TextBox 2">
            <a:extLst>
              <a:ext uri="{FF2B5EF4-FFF2-40B4-BE49-F238E27FC236}">
                <a16:creationId xmlns:a16="http://schemas.microsoft.com/office/drawing/2014/main" id="{51CA239D-7060-E2ED-0944-F084AA8BC638}"/>
              </a:ext>
            </a:extLst>
          </p:cNvPr>
          <p:cNvSpPr txBox="1"/>
          <p:nvPr/>
        </p:nvSpPr>
        <p:spPr>
          <a:xfrm>
            <a:off x="952500" y="1374428"/>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1. Select </a:t>
            </a:r>
            <a:r>
              <a:rPr lang="en-US" b="1">
                <a:solidFill>
                  <a:srgbClr val="173F35"/>
                </a:solidFill>
                <a:latin typeface="Segoe UI" panose="020B0502040204020203" pitchFamily="34" charset="0"/>
              </a:rPr>
              <a:t>Discuss the trade-off</a:t>
            </a:r>
            <a:r>
              <a:rPr lang="en-US">
                <a:solidFill>
                  <a:srgbClr val="173F35"/>
                </a:solidFill>
                <a:latin typeface="Segoe UI" panose="020B0502040204020203" pitchFamily="34" charset="0"/>
              </a:rPr>
              <a:t> and choose Rehearsal or configured Live AI.</a:t>
            </a:r>
          </a:p>
        </p:txBody>
      </p:sp>
      <p:sp>
        <p:nvSpPr>
          <p:cNvPr id="4" name="TextBox 3">
            <a:extLst>
              <a:ext uri="{FF2B5EF4-FFF2-40B4-BE49-F238E27FC236}">
                <a16:creationId xmlns:a16="http://schemas.microsoft.com/office/drawing/2014/main" id="{7D302C4A-C5D5-82D2-B638-74871B674A1C}"/>
              </a:ext>
            </a:extLst>
          </p:cNvPr>
          <p:cNvSpPr txBox="1"/>
          <p:nvPr/>
        </p:nvSpPr>
        <p:spPr>
          <a:xfrm>
            <a:off x="952500" y="1922264"/>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2. Start the handoff. Open the inspector and identify the Agent Card and task ID.</a:t>
            </a:r>
          </a:p>
        </p:txBody>
      </p:sp>
      <p:sp>
        <p:nvSpPr>
          <p:cNvPr id="5" name="TextBox 4">
            <a:extLst>
              <a:ext uri="{FF2B5EF4-FFF2-40B4-BE49-F238E27FC236}">
                <a16:creationId xmlns:a16="http://schemas.microsoft.com/office/drawing/2014/main" id="{DD6F7CF7-ACC6-AE05-306F-C4DDC08E91D2}"/>
              </a:ext>
            </a:extLst>
          </p:cNvPr>
          <p:cNvSpPr txBox="1"/>
          <p:nvPr/>
        </p:nvSpPr>
        <p:spPr>
          <a:xfrm>
            <a:off x="952500" y="2470100"/>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3. Answer </a:t>
            </a:r>
            <a:r>
              <a:rPr lang="en-US" b="1">
                <a:solidFill>
                  <a:srgbClr val="173F35"/>
                </a:solidFill>
                <a:latin typeface="Segoe UI" panose="020B0502040204020203" pitchFamily="34" charset="0"/>
              </a:rPr>
              <a:t>Separate breakout rooms</a:t>
            </a:r>
            <a:r>
              <a:rPr lang="en-US">
                <a:solidFill>
                  <a:srgbClr val="173F35"/>
                </a:solidFill>
                <a:latin typeface="Segoe UI" panose="020B0502040204020203" pitchFamily="34" charset="0"/>
              </a:rPr>
              <a:t>. Check the artifact, cost and review.</a:t>
            </a:r>
          </a:p>
        </p:txBody>
      </p:sp>
      <p:sp>
        <p:nvSpPr>
          <p:cNvPr id="6" name="TextBox 5">
            <a:extLst>
              <a:ext uri="{FF2B5EF4-FFF2-40B4-BE49-F238E27FC236}">
                <a16:creationId xmlns:a16="http://schemas.microsoft.com/office/drawing/2014/main" id="{007D2935-0940-069C-8993-1CB008973A29}"/>
              </a:ext>
            </a:extLst>
          </p:cNvPr>
          <p:cNvSpPr txBox="1"/>
          <p:nvPr/>
        </p:nvSpPr>
        <p:spPr>
          <a:xfrm>
            <a:off x="952500" y="3017937"/>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4. Start a new run with </a:t>
            </a:r>
            <a:r>
              <a:rPr lang="en-US" b="1">
                <a:solidFill>
                  <a:srgbClr val="173F35"/>
                </a:solidFill>
                <a:latin typeface="Segoe UI" panose="020B0502040204020203" pitchFamily="34" charset="0"/>
              </a:rPr>
              <a:t>Prioritize a quiet room</a:t>
            </a:r>
            <a:r>
              <a:rPr lang="en-US">
                <a:solidFill>
                  <a:srgbClr val="173F35"/>
                </a:solidFill>
                <a:latin typeface="Segoe UI" panose="020B0502040204020203" pitchFamily="34" charset="0"/>
              </a:rPr>
              <a:t>. Compare the reasoning and result.</a:t>
            </a:r>
          </a:p>
        </p:txBody>
      </p:sp>
      <p:sp>
        <p:nvSpPr>
          <p:cNvPr id="7" name="TextBox 6">
            <a:extLst>
              <a:ext uri="{FF2B5EF4-FFF2-40B4-BE49-F238E27FC236}">
                <a16:creationId xmlns:a16="http://schemas.microsoft.com/office/drawing/2014/main" id="{E00BA91C-6552-782C-BFF9-937463DFEBA9}"/>
              </a:ext>
            </a:extLst>
          </p:cNvPr>
          <p:cNvSpPr txBox="1"/>
          <p:nvPr/>
        </p:nvSpPr>
        <p:spPr>
          <a:xfrm>
            <a:off x="952500" y="3565773"/>
            <a:ext cx="10591800" cy="401786"/>
          </a:xfrm>
          <a:prstGeom prst="rect">
            <a:avLst/>
          </a:prstGeom>
          <a:noFill/>
        </p:spPr>
        <p:txBody>
          <a:bodyPr vert="horz" wrap="square" lIns="0" tIns="0" rIns="0" bIns="0" rtlCol="0" anchor="t">
            <a:noAutofit/>
          </a:bodyPr>
          <a:lstStyle/>
          <a:p>
            <a:pPr>
              <a:lnSpc>
                <a:spcPts val="2664"/>
              </a:lnSpc>
            </a:pPr>
            <a:r>
              <a:rPr lang="en-US">
                <a:solidFill>
                  <a:srgbClr val="173F35"/>
                </a:solidFill>
                <a:latin typeface="Segoe UI" panose="020B0502040204020203" pitchFamily="34" charset="0"/>
              </a:rPr>
              <a:t>5. Try </a:t>
            </a:r>
            <a:r>
              <a:rPr lang="en-US" b="1">
                <a:solidFill>
                  <a:srgbClr val="173F35"/>
                </a:solidFill>
                <a:latin typeface="Segoe UI" panose="020B0502040204020203" pitchFamily="34" charset="0"/>
              </a:rPr>
              <a:t>A budget that cannot work</a:t>
            </a:r>
            <a:r>
              <a:rPr lang="en-US">
                <a:solidFill>
                  <a:srgbClr val="173F35"/>
                </a:solidFill>
                <a:latin typeface="Segoe UI" panose="020B0502040204020203" pitchFamily="34" charset="0"/>
              </a:rPr>
              <a:t>. Explain why rejection is a valid outcome.</a:t>
            </a:r>
          </a:p>
        </p:txBody>
      </p:sp>
      <p:sp>
        <p:nvSpPr>
          <p:cNvPr id="8" name="TextBox 7">
            <a:extLst>
              <a:ext uri="{FF2B5EF4-FFF2-40B4-BE49-F238E27FC236}">
                <a16:creationId xmlns:a16="http://schemas.microsoft.com/office/drawing/2014/main" id="{B8821B6C-DB28-7BFF-CB34-976FDBE26A17}"/>
              </a:ext>
            </a:extLst>
          </p:cNvPr>
          <p:cNvSpPr txBox="1"/>
          <p:nvPr/>
        </p:nvSpPr>
        <p:spPr>
          <a:xfrm>
            <a:off x="647700" y="4208859"/>
            <a:ext cx="10896600" cy="306388"/>
          </a:xfrm>
          <a:prstGeom prst="rect">
            <a:avLst/>
          </a:prstGeom>
          <a:noFill/>
        </p:spPr>
        <p:txBody>
          <a:bodyPr vert="horz" wrap="square" lIns="0" tIns="0" rIns="0" bIns="0" rtlCol="0" anchor="t">
            <a:noAutofit/>
          </a:bodyPr>
          <a:lstStyle/>
          <a:p>
            <a:pPr>
              <a:lnSpc>
                <a:spcPts val="1913"/>
              </a:lnSpc>
            </a:pPr>
            <a:r>
              <a:rPr lang="en-US" sz="1275">
                <a:solidFill>
                  <a:srgbClr val="516358"/>
                </a:solidFill>
                <a:latin typeface="Segoe UI" panose="020B0502040204020203" pitchFamily="34" charset="0"/>
              </a:rPr>
              <a:t>Live AI uses API billing. Rehearsal remains available if the provider cannot be reached.</a:t>
            </a:r>
          </a:p>
        </p:txBody>
      </p:sp>
    </p:spTree>
    <p:extLst>
      <p:ext uri="{BB962C8B-B14F-4D97-AF65-F5344CB8AC3E}">
        <p14:creationId xmlns:p14="http://schemas.microsoft.com/office/powerpoint/2010/main" val="1854844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2CD9DA-A455-45DD-A819-1D706E81BBAC}"/>
              </a:ext>
            </a:extLst>
          </p:cNvPr>
          <p:cNvSpPr txBox="1"/>
          <p:nvPr/>
        </p:nvSpPr>
        <p:spPr>
          <a:xfrm>
            <a:off x="647700" y="1536204"/>
            <a:ext cx="10896600" cy="274836"/>
          </a:xfrm>
          <a:prstGeom prst="rect">
            <a:avLst/>
          </a:prstGeom>
          <a:noFill/>
        </p:spPr>
        <p:txBody>
          <a:bodyPr vert="horz" wrap="square" lIns="0" tIns="0" rIns="0" bIns="0" rtlCol="0" anchor="t">
            <a:noAutofit/>
          </a:bodyPr>
          <a:lstStyle/>
          <a:p>
            <a:pPr>
              <a:lnSpc>
                <a:spcPts val="1665"/>
              </a:lnSpc>
            </a:pPr>
            <a:r>
              <a:rPr lang="en-US" sz="1125" b="1">
                <a:solidFill>
                  <a:srgbClr val="D5E9AD"/>
                </a:solidFill>
                <a:latin typeface="Segoe UI" panose="020B0502040204020203" pitchFamily="34" charset="0"/>
              </a:rPr>
              <a:t>THE COURSE TAKEAWAY</a:t>
            </a:r>
          </a:p>
        </p:txBody>
      </p:sp>
      <p:sp>
        <p:nvSpPr>
          <p:cNvPr id="3" name="TextBox 2">
            <a:extLst>
              <a:ext uri="{FF2B5EF4-FFF2-40B4-BE49-F238E27FC236}">
                <a16:creationId xmlns:a16="http://schemas.microsoft.com/office/drawing/2014/main" id="{73B6C585-EF33-3BF2-F63C-8A821610B01C}"/>
              </a:ext>
            </a:extLst>
          </p:cNvPr>
          <p:cNvSpPr txBox="1"/>
          <p:nvPr/>
        </p:nvSpPr>
        <p:spPr>
          <a:xfrm>
            <a:off x="647700" y="2033290"/>
            <a:ext cx="10896600" cy="1318419"/>
          </a:xfrm>
          <a:prstGeom prst="rect">
            <a:avLst/>
          </a:prstGeom>
          <a:noFill/>
        </p:spPr>
        <p:txBody>
          <a:bodyPr vert="horz" wrap="square" lIns="0" tIns="0" rIns="0" bIns="0" rtlCol="0" anchor="t">
            <a:noAutofit/>
          </a:bodyPr>
          <a:lstStyle/>
          <a:p>
            <a:pPr>
              <a:lnSpc>
                <a:spcPts val="4941"/>
              </a:lnSpc>
            </a:pPr>
            <a:r>
              <a:rPr lang="en-US" sz="4050" b="1">
                <a:solidFill>
                  <a:srgbClr val="F6F5E9"/>
                </a:solidFill>
                <a:latin typeface="Segoe UI" panose="020B0502040204020203" pitchFamily="34" charset="0"/>
              </a:rPr>
              <a:t>A tool performs an operation.</a:t>
            </a:r>
          </a:p>
          <a:p>
            <a:pPr>
              <a:lnSpc>
                <a:spcPts val="4941"/>
              </a:lnSpc>
            </a:pPr>
            <a:r>
              <a:rPr lang="en-US" sz="4050" b="1">
                <a:solidFill>
                  <a:srgbClr val="F6F5E9"/>
                </a:solidFill>
                <a:latin typeface="Segoe UI" panose="020B0502040204020203" pitchFamily="34" charset="0"/>
              </a:rPr>
              <a:t>An agent takes on a task.</a:t>
            </a:r>
          </a:p>
        </p:txBody>
      </p:sp>
      <p:sp>
        <p:nvSpPr>
          <p:cNvPr id="4" name="TextBox 3">
            <a:extLst>
              <a:ext uri="{FF2B5EF4-FFF2-40B4-BE49-F238E27FC236}">
                <a16:creationId xmlns:a16="http://schemas.microsoft.com/office/drawing/2014/main" id="{50C770BB-0907-8A5E-D1AD-A1BBDB3AC0FE}"/>
              </a:ext>
            </a:extLst>
          </p:cNvPr>
          <p:cNvSpPr txBox="1"/>
          <p:nvPr/>
        </p:nvSpPr>
        <p:spPr>
          <a:xfrm>
            <a:off x="647700" y="3669209"/>
            <a:ext cx="10896600" cy="892175"/>
          </a:xfrm>
          <a:prstGeom prst="rect">
            <a:avLst/>
          </a:prstGeom>
          <a:noFill/>
        </p:spPr>
        <p:txBody>
          <a:bodyPr vert="horz" wrap="square" lIns="0" tIns="0" rIns="0" bIns="0" rtlCol="0" anchor="t">
            <a:noAutofit/>
          </a:bodyPr>
          <a:lstStyle/>
          <a:p>
            <a:pPr>
              <a:lnSpc>
                <a:spcPts val="3263"/>
              </a:lnSpc>
            </a:pPr>
            <a:r>
              <a:rPr lang="en-US" sz="2175">
                <a:solidFill>
                  <a:srgbClr val="F6F5E9"/>
                </a:solidFill>
                <a:latin typeface="Segoe UI" panose="020B0502040204020203" pitchFamily="34" charset="0"/>
              </a:rPr>
              <a:t>Delegation adds decisions, questions and responsibility.</a:t>
            </a:r>
          </a:p>
          <a:p>
            <a:pPr>
              <a:lnSpc>
                <a:spcPts val="3263"/>
              </a:lnSpc>
            </a:pPr>
            <a:r>
              <a:rPr lang="en-US" sz="2175">
                <a:solidFill>
                  <a:srgbClr val="F6F5E9"/>
                </a:solidFill>
                <a:latin typeface="Segoe UI" panose="020B0502040204020203" pitchFamily="34" charset="0"/>
              </a:rPr>
              <a:t>A2A gives those exchanges a common protocol.</a:t>
            </a:r>
          </a:p>
        </p:txBody>
      </p:sp>
      <p:sp>
        <p:nvSpPr>
          <p:cNvPr id="5" name="TextBox 4">
            <a:extLst>
              <a:ext uri="{FF2B5EF4-FFF2-40B4-BE49-F238E27FC236}">
                <a16:creationId xmlns:a16="http://schemas.microsoft.com/office/drawing/2014/main" id="{6DE71559-FE71-75B4-61A3-F9E1D7225703}"/>
              </a:ext>
            </a:extLst>
          </p:cNvPr>
          <p:cNvSpPr txBox="1"/>
          <p:nvPr/>
        </p:nvSpPr>
        <p:spPr>
          <a:xfrm>
            <a:off x="647700" y="5078909"/>
            <a:ext cx="10896600" cy="306388"/>
          </a:xfrm>
          <a:prstGeom prst="rect">
            <a:avLst/>
          </a:prstGeom>
          <a:noFill/>
        </p:spPr>
        <p:txBody>
          <a:bodyPr vert="horz" wrap="square" lIns="0" tIns="0" rIns="0" bIns="0" rtlCol="0" anchor="t">
            <a:noAutofit/>
          </a:bodyPr>
          <a:lstStyle/>
          <a:p>
            <a:pPr>
              <a:lnSpc>
                <a:spcPts val="1913"/>
              </a:lnSpc>
            </a:pPr>
            <a:r>
              <a:rPr lang="en-US" sz="1275">
                <a:solidFill>
                  <a:srgbClr val="D3E0CD"/>
                </a:solidFill>
                <a:latin typeface="Segoe UI" panose="020B0502040204020203" pitchFamily="34" charset="0"/>
              </a:rPr>
              <a:t>Explain the discovery, the task identity, the clarification and the returned artifact.</a:t>
            </a:r>
          </a:p>
        </p:txBody>
      </p:sp>
    </p:spTree>
    <p:extLst>
      <p:ext uri="{BB962C8B-B14F-4D97-AF65-F5344CB8AC3E}">
        <p14:creationId xmlns:p14="http://schemas.microsoft.com/office/powerpoint/2010/main" val="1164557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2331</Words>
  <Application>Microsoft Office PowerPoint</Application>
  <PresentationFormat>Widescreen</PresentationFormat>
  <Paragraphs>201</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Rand Issa</dc:creator>
  <cp:lastModifiedBy>Rand Issa</cp:lastModifiedBy>
  <cp:revision>2</cp:revision>
  <dcterms:created xsi:type="dcterms:W3CDTF">2026-10-14T15:53:20Z</dcterms:created>
  <dcterms:modified xsi:type="dcterms:W3CDTF">2026-10-14T15:56:14Z</dcterms:modified>
</cp:coreProperties>
</file>